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424160" cy="3474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Agentic Customer Support Assistant</a:t>
            </a:r>
          </a:p>
          <a:p>
            <a:pPr>
              <a:spcBef>
                <a:spcPts val="1200"/>
              </a:spcBef>
              <a:defRPr sz="1800">
                <a:solidFill>
                  <a:srgbClr val="EBF3F9"/>
                </a:solidFill>
                <a:latin typeface="Aptos"/>
              </a:defRPr>
            </a:pPr>
            <a:r>
              <a:t>Northstar Gear - fictional customer-support domain</a:t>
            </a:r>
          </a:p>
          <a:p>
            <a:pPr>
              <a:spcBef>
                <a:spcPts val="1200"/>
              </a:spcBef>
              <a:defRPr sz="1800">
                <a:solidFill>
                  <a:srgbClr val="EBF3F9"/>
                </a:solidFill>
                <a:latin typeface="Aptos"/>
              </a:defRPr>
            </a:pPr>
            <a:r>
              <a:t>Text and recorded-audio voice paths share SupportService</a:t>
            </a:r>
          </a:p>
          <a:p>
            <a:pPr>
              <a:spcBef>
                <a:spcPts val="1200"/>
              </a:spcBef>
              <a:defRPr sz="1800">
                <a:solidFill>
                  <a:srgbClr val="EBF3F9"/>
                </a:solidFill>
                <a:latin typeface="Aptos"/>
              </a:defRPr>
            </a:pPr>
            <a:r>
              <a:t>Evidence snapshot: 2026-10-18</a:t>
            </a:r>
          </a:p>
          <a:p>
            <a:pPr>
              <a:spcBef>
                <a:spcPts val="1200"/>
              </a:spcBef>
              <a:defRPr sz="1800">
                <a:solidFill>
                  <a:srgbClr val="EBF3F9"/>
                </a:solidFill>
                <a:latin typeface="Aptos"/>
              </a:defRPr>
            </a:pPr>
            <a:r>
              <a:t>Status: Step 8 live follow-up acceptance remains incomplete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Architecture and trust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69848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Input shape checks -&gt; InputGuard -&gt; structured intent router</a:t>
            </a:r>
          </a:p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Registered handler -&gt; read-only tools or semantic retrieval</a:t>
            </a:r>
          </a:p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OutputClaimGuard validates facts before the response leaves the service</a:t>
            </a:r>
          </a:p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Voice transcript reuses the same support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1E6FA6"/>
                </a:solidFill>
                <a:latin typeface="Aptos"/>
              </a:rPr>
              <a:t>Agentic Customer Support Assistant  |  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Domain, tools, and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69848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All customers, sessions, orders, policies, and dates are fictional</a:t>
            </a:r>
          </a:p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Order tools enforce format, verification, existence, and ownership</a:t>
            </a:r>
          </a:p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Return eligibility is policy evidence, not refund approval</a:t>
            </a:r>
          </a:p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Refund amounts and dates require confirmed tool 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1E6FA6"/>
                </a:solidFill>
                <a:latin typeface="Aptos"/>
              </a:rPr>
              <a:t>Agentic Customer Support Assistant  |  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Grounding and implementation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69848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12 original KB documents; local MiniLM embeddings and exact cosine scan</a:t>
            </a:r>
          </a:p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Retrieval keeps source and chunk provenance; insufficient evidence is explicit</a:t>
            </a:r>
          </a:p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Product handler retrieves passages but does not yet generate a grounded answer</a:t>
            </a:r>
          </a:p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Tool dispatch is deterministic; native function calling/ReAct is not implemented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1E6FA6"/>
                </a:solidFill>
                <a:latin typeface="Aptos"/>
              </a:rPr>
              <a:t>Agentic Customer Support Assistant  |  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Measured offline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69848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Keyless regression suite: 62 passed; 2 dependency deprecation warnings</a:t>
            </a:r>
          </a:p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Routing accuracy 0.8333; retrieval recall@5 0.7273</a:t>
            </a:r>
          </a:p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Input guardrail recall 0.6667; output guardrail recall 1.0</a:t>
            </a:r>
          </a:p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Classifier cache hit rate 0.5 on the measured workload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1E6FA6"/>
                </a:solidFill>
                <a:latin typeface="Aptos"/>
              </a:rPr>
              <a:t>Agentic Customer Support Assistant  |  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Voice turn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69848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WebRTC candidate: 3 positive 20 ms frames; local Silero ONNX confirms</a:t>
            </a:r>
          </a:p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Turn IDs, playback cancellation, stale-result discard, and bounded STT retry</a:t>
            </a:r>
          </a:p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Labeled regression corpus: 0 false interruptions; 0 missed speech</a:t>
            </a:r>
          </a:p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Corpus result only; not a universal speech/noise performance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1E6FA6"/>
                </a:solidFill>
                <a:latin typeface="Aptos"/>
              </a:rPr>
              <a:t>Agentic Customer Support Assistant  |  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Audible scenario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69848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Silence and current noise clip completed audible playback without interruption</a:t>
            </a:r>
          </a:p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Wrong-order speech interrupted; live input safety failed closed</a:t>
            </a:r>
          </a:p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Adversarial speech interrupted; live classifier failed closed; no refund promised</a:t>
            </a:r>
          </a:p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Injected STT failure retried twice and played a safe handoff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1E6FA6"/>
                </a:solidFill>
                <a:latin typeface="Aptos"/>
              </a:rPr>
              <a:t>Agentic Customer Support Assistant  |  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Latency and measurement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69848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Wrong-order: 3665.86 ms to application playback start</a:t>
            </a:r>
          </a:p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Adversarial: 5672.024 ms; injected failure handoff: 2585.583 ms</a:t>
            </a:r>
          </a:p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Timestamps are real; endpoint is application playback handoff</a:t>
            </a:r>
          </a:p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No acoustic loopback or first-physical-sample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1E6FA6"/>
                </a:solidFill>
                <a:latin typeface="Aptos"/>
              </a:rPr>
              <a:t>Agentic Customer Support Assistant  |  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Red-team: two reproduced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69848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safe=true with confidence 0.0 allowed an injection before the fix</a:t>
            </a:r>
          </a:p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Natural-language unverified delivery date passed output validation before the fix</a:t>
            </a:r>
          </a:p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Both fixes have service-boundary regression tests</a:t>
            </a:r>
          </a:p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Residual risks: semantic classifier errors and heuristic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1E6FA6"/>
                </a:solidFill>
                <a:latin typeface="Aptos"/>
              </a:rPr>
              <a:t>Agentic Customer Support Assistant  |  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Scale and operations - PROPOSED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69848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Stateless workers; durable shared session state; bounded queues and rate limits</a:t>
            </a:r>
          </a:p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Versioned cache keys; provider deadlines, backpressure, circuit breaking</a:t>
            </a:r>
          </a:p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Shadow route changes, canary with safety gates, immediate rollback</a:t>
            </a:r>
          </a:p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No 10,000-session load test or distributed state store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1E6FA6"/>
                </a:solidFill>
                <a:latin typeface="Aptos"/>
              </a:rPr>
              <a:t>Agentic Customer Support Assistant  |  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Part C and next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69848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Voice-to-text/human shared-state transfer is designed, not implemented</a:t>
            </a:r>
          </a:p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Groq degradation: bounded retry then fail-closed or local safe handoff</a:t>
            </a:r>
          </a:p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Next: compliant tool-calling/ReAct path and grounded product answer generation</a:t>
            </a:r>
          </a:p>
          <a:p>
            <a:pPr>
              <a:spcAft>
                <a:spcPts val="2200"/>
              </a:spcAft>
              <a:defRPr sz="2100">
                <a:solidFill>
                  <a:srgbClr val="1E2A36"/>
                </a:solidFill>
                <a:latin typeface="Aptos"/>
              </a:defRPr>
            </a:pPr>
            <a:r>
              <a:t>Then: live interruption follow-up validation and acoustic latency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1E6FA6"/>
                </a:solidFill>
                <a:latin typeface="Aptos"/>
              </a:rPr>
              <a:t>Agentic Customer Support Assistant  |  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