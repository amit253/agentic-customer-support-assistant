
<file path=[Content_Types].xml><?xml version="1.0" encoding="utf-8"?>
<Types xmlns="http://schemas.openxmlformats.org/package/2006/content-types">
  <Default ContentType="application/vnd.openxmlformats-officedocument.spreadsheetml.sheet" Extension="xlsx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2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4" roundtripDataSignature="AMtx7mh+AKXKt6A/QcV5FkwbxneRy2Am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6A0D87-688B-4259-BE95-99BD98E3B03D}">
  <a:tblStyle styleId="{206A0D87-688B-4259-BE95-99BD98E3B03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22" Type="http://schemas.openxmlformats.org/officeDocument/2006/relationships/slide" Target="slides/slide16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24" Type="http://customschemas.google.com/relationships/presentationmetadata" Target="metadata"/><Relationship Id="rId12" Type="http://schemas.openxmlformats.org/officeDocument/2006/relationships/slide" Target="slides/slide6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"1.0" encoding="UTF-8" standalone="yes"?>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Sheet1!$A$2:$A$7</c:f>
              <c:strCache>
                <c:ptCount val="6"/>
                <c:pt idx="0">
                  <c:v>Product question</c:v>
                </c:pt>
                <c:pt idx="1">
                  <c:v>Order status</c:v>
                </c:pt>
                <c:pt idx="2">
                  <c:v>Human handoff</c:v>
                </c:pt>
                <c:pt idx="3">
                  <c:v>Smalltalk</c:v>
                </c:pt>
                <c:pt idx="4">
                  <c:v>Out of scope</c:v>
                </c:pt>
                <c:pt idx="5">
                  <c:v>Unclear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</c:v>
                </c:pt>
                <c:pt idx="1">
                  <c:v>0.923</c:v>
                </c:pt>
                <c:pt idx="2">
                  <c:v>0.933</c:v>
                </c:pt>
                <c:pt idx="3">
                  <c:v>1.0</c:v>
                </c:pt>
                <c:pt idx="4">
                  <c:v>0.933</c:v>
                </c:pt>
                <c:pt idx="5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Sheet1!$A$2:$A$7</c:f>
              <c:strCache>
                <c:ptCount val="6"/>
                <c:pt idx="0">
                  <c:v>Product question</c:v>
                </c:pt>
                <c:pt idx="1">
                  <c:v>Order status</c:v>
                </c:pt>
                <c:pt idx="2">
                  <c:v>Human handoff</c:v>
                </c:pt>
                <c:pt idx="3">
                  <c:v>Smalltalk</c:v>
                </c:pt>
                <c:pt idx="4">
                  <c:v>Out of scope</c:v>
                </c:pt>
                <c:pt idx="5">
                  <c:v>Unclear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0.917</c:v>
                </c:pt>
                <c:pt idx="1">
                  <c:v>1.0</c:v>
                </c:pt>
                <c:pt idx="2">
                  <c:v>0.933</c:v>
                </c:pt>
                <c:pt idx="3">
                  <c:v>1.0</c:v>
                </c:pt>
                <c:pt idx="4">
                  <c:v>1.0</c:v>
                </c:pt>
                <c:pt idx="5">
                  <c:v>0.923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2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  <c:majorUnit val="0.2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Evidence recall</c:v>
                </c:pt>
              </c:strCache>
            </c:strRef>
          </c:tx>
          <c:spPr>
            <a:solidFill>
              <a:srgbClr val="1F7A80"/>
            </a:solidFill>
          </c:spPr>
          <c:cat>
            <c:strRef>
              <c:f>Sheet1!$A$2:$A$6</c:f>
              <c:strCache>
                <c:ptCount val="5"/>
                <c:pt idx="0">
                  <c:v>MiniLM dense</c:v>
                </c:pt>
                <c:pt idx="1">
                  <c:v>MiniLM dense, tuned cut</c:v>
                </c:pt>
                <c:pt idx="2">
                  <c:v>MiniLM + BM25</c:v>
                </c:pt>
                <c:pt idx="3">
                  <c:v>MiniLM + BM25 + reranker</c:v>
                </c:pt>
                <c:pt idx="4">
                  <c:v>e5 + BM25 (selected)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0.516</c:v>
                </c:pt>
                <c:pt idx="1">
                  <c:v>0.781</c:v>
                </c:pt>
                <c:pt idx="2">
                  <c:v>0.797</c:v>
                </c:pt>
                <c:pt idx="3">
                  <c:v>0.562</c:v>
                </c:pt>
                <c:pt idx="4">
                  <c:v>0.922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A9BCBE"/>
            </a:solidFill>
          </c:spPr>
          <c:cat>
            <c:strRef>
              <c:f>Sheet1!$A$2:$A$6</c:f>
              <c:strCache>
                <c:ptCount val="5"/>
                <c:pt idx="0">
                  <c:v>MiniLM dense</c:v>
                </c:pt>
                <c:pt idx="1">
                  <c:v>MiniLM dense, tuned cut</c:v>
                </c:pt>
                <c:pt idx="2">
                  <c:v>MiniLM + BM25</c:v>
                </c:pt>
                <c:pt idx="3">
                  <c:v>MiniLM + BM25 + reranker</c:v>
                </c:pt>
                <c:pt idx="4">
                  <c:v>e5 + BM25 (selected)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0.857</c:v>
                </c:pt>
                <c:pt idx="1">
                  <c:v>0.857</c:v>
                </c:pt>
                <c:pt idx="2">
                  <c:v>0.907</c:v>
                </c:pt>
                <c:pt idx="3">
                  <c:v>0.885</c:v>
                </c:pt>
                <c:pt idx="4">
                  <c:v>0.912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>
          <c:spPr>
            <a:ln w="9525">
              <a:solidFill>
                <a:srgbClr val="DDE7E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12333B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Seconds</c:v>
                </c:pt>
              </c:strCache>
            </c:strRef>
          </c:tx>
          <c:spPr>
            <a:solidFill>
              <a:srgbClr val="1F7A80"/>
            </a:solidFill>
          </c:spPr>
          <c:dPt>
            <c:idx val="0"/>
            <c:spPr>
              <a:solidFill>
                <a:srgbClr val="1F7A80"/>
              </a:solidFill>
            </c:spPr>
          </c:dPt>
          <c:dPt>
            <c:idx val="1"/>
            <c:spPr>
              <a:solidFill>
                <a:srgbClr val="1F7A80"/>
              </a:solidFill>
            </c:spPr>
          </c:dPt>
          <c:dPt>
            <c:idx val="2"/>
            <c:spPr>
              <a:solidFill>
                <a:srgbClr val="1F7A80"/>
              </a:solidFill>
            </c:spPr>
          </c:dPt>
          <c:dPt>
            <c:idx val="3"/>
            <c:spPr>
              <a:solidFill>
                <a:srgbClr val="1F7A80"/>
              </a:solidFill>
            </c:spPr>
          </c:dPt>
          <c:dPt>
            <c:idx val="4"/>
            <c:spPr>
              <a:solidFill>
                <a:srgbClr val="A9BCBE"/>
              </a:solidFill>
            </c:spPr>
          </c:dPt>
          <c:cat>
            <c:strRef>
              <c:f>Sheet1!$A$2:$A$6</c:f>
              <c:strCache>
                <c:ptCount val="5"/>
                <c:pt idx="0">
                  <c:v>Order status</c:v>
                </c:pt>
                <c:pt idx="1">
                  <c:v>Return eligibility</c:v>
                </c:pt>
                <c:pt idx="2">
                  <c:v>Wrong-order interrupt</c:v>
                </c:pt>
                <c:pt idx="3">
                  <c:v>Adversarial line</c:v>
                </c:pt>
                <c:pt idx="4">
                  <c:v>STT failure handoff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2.738</c:v>
                </c:pt>
                <c:pt idx="1">
                  <c:v>2.947</c:v>
                </c:pt>
                <c:pt idx="2">
                  <c:v>2.119</c:v>
                </c:pt>
                <c:pt idx="3">
                  <c:v>2.778</c:v>
                </c:pt>
                <c:pt idx="4">
                  <c:v>0.542</c:v>
                </c:pt>
              </c:numCache>
            </c:numRef>
          </c:val>
        </c:ser>
        <c:dLbls>
          <c:numFmt formatCode="0.00&quot; s&quot;" sourceLinked="0"/>
          <c:txPr>
            <a:bodyPr/>
            <a:lstStyle/>
            <a:p>
              <a:pPr>
                <a:defRPr sz="1100">
                  <a:solidFill>
                    <a:srgbClr val="1233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ACC"/>
            </a:solidFill>
          </a:ln>
        </c:spPr>
        <c:txPr>
          <a:bodyPr/>
          <a:lstStyle/>
          <a:p>
            <a:pPr>
              <a:defRPr sz="1100">
                <a:solidFill>
                  <a:srgbClr val="1233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5"/>
          <c:min val="0.0"/>
        </c:scaling>
        <c:delete val="0"/>
        <c:axPos val="l"/>
        <c:majorGridlines>
          <c:spPr>
            <a:ln w="9525">
              <a:solidFill>
                <a:srgbClr val="DDE7E8"/>
              </a:solidFill>
            </a:ln>
          </c:spPr>
        </c:majorGridlines>
        <c:numFmt formatCode="0.0&quot; s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5696D"/>
                </a:solidFill>
              </a:defRPr>
            </a:pPr>
          </a:p>
        </c:txPr>
        <c:crossAx val="-2068027336"/>
        <c:crosses val="autoZero"/>
        <c:majorUnit val="0.5"/>
      </c:valAx>
    </c:plotArea>
    <c:dispBlanksAs val="gap"/>
  </c:chart>
  <c:txPr>
    <a:bodyPr/>
    <a:lstStyle/>
    <a:p>
      <a:pPr>
        <a:defRPr sz="1100">
          <a:solidFill>
            <a:srgbClr val="55696D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2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3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33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646277" y="914327"/>
            <a:ext cx="9144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ASSIGNMENT </a:t>
            </a:r>
            <a:endParaRPr sz="3000"/>
          </a:p>
        </p:txBody>
      </p:sp>
      <p:sp>
        <p:nvSpPr>
          <p:cNvPr id="85" name="Google Shape;85;p1"/>
          <p:cNvSpPr txBox="1"/>
          <p:nvPr/>
        </p:nvSpPr>
        <p:spPr>
          <a:xfrm>
            <a:off x="548640" y="1554480"/>
            <a:ext cx="109728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Agentic Customer Support Assistant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548640" y="2514600"/>
            <a:ext cx="104241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Text and voice support for Northstar Gear, a fictional travel-backpack brand, with Groq for LLM and speech, grounded answers, read-only tools, and guardrails in code</a:t>
            </a:r>
            <a:endParaRPr/>
          </a:p>
        </p:txBody>
      </p:sp>
      <p:sp>
        <p:nvSpPr>
          <p:cNvPr id="87" name="Google Shape;87;p1"/>
          <p:cNvSpPr/>
          <p:nvPr/>
        </p:nvSpPr>
        <p:spPr>
          <a:xfrm>
            <a:off x="548640" y="4160520"/>
            <a:ext cx="3474720" cy="1417320"/>
          </a:xfrm>
          <a:prstGeom prst="roundRect">
            <a:avLst>
              <a:gd fmla="val 10000" name="adj"/>
            </a:avLst>
          </a:prstGeom>
          <a:solidFill>
            <a:srgbClr val="1D4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822959" y="4315968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E8A33D"/>
                </a:solidFill>
                <a:latin typeface="Cambria"/>
                <a:ea typeface="Cambria"/>
                <a:cs typeface="Cambria"/>
                <a:sym typeface="Cambria"/>
              </a:rPr>
              <a:t>95.5%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822959" y="4956048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routing accuracy, live, on 110 held-out messages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4297679" y="4160520"/>
            <a:ext cx="3474720" cy="1417320"/>
          </a:xfrm>
          <a:prstGeom prst="roundRect">
            <a:avLst>
              <a:gd fmla="val 10000" name="adj"/>
            </a:avLst>
          </a:prstGeom>
          <a:solidFill>
            <a:srgbClr val="1D4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571999" y="4315968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E8A33D"/>
                </a:solidFill>
                <a:latin typeface="Cambria"/>
                <a:ea typeface="Cambria"/>
                <a:cs typeface="Cambria"/>
                <a:sym typeface="Cambria"/>
              </a:rPr>
              <a:t>13 / 13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4571999" y="4956048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unanswerable questions declined; 93.8% of answerable ones answered</a:t>
            </a:r>
            <a:endParaRPr/>
          </a:p>
        </p:txBody>
      </p:sp>
      <p:sp>
        <p:nvSpPr>
          <p:cNvPr id="93" name="Google Shape;93;p1"/>
          <p:cNvSpPr/>
          <p:nvPr/>
        </p:nvSpPr>
        <p:spPr>
          <a:xfrm>
            <a:off x="8046719" y="4160520"/>
            <a:ext cx="3474720" cy="1417320"/>
          </a:xfrm>
          <a:prstGeom prst="roundRect">
            <a:avLst>
              <a:gd fmla="val 10000" name="adj"/>
            </a:avLst>
          </a:prstGeom>
          <a:solidFill>
            <a:srgbClr val="1D4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8321040" y="4315968"/>
            <a:ext cx="30175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E8A33D"/>
                </a:solidFill>
                <a:latin typeface="Cambria"/>
                <a:ea typeface="Cambria"/>
                <a:cs typeface="Cambria"/>
                <a:sym typeface="Cambria"/>
              </a:rPr>
              <a:t>2.1–2.9 s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8321040" y="4956048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voice: end of speech to start of the spoken reply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97" name="Google Shape;97;p1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98" name="Google Shape;98;p1"/>
          <p:cNvSpPr txBox="1"/>
          <p:nvPr/>
        </p:nvSpPr>
        <p:spPr>
          <a:xfrm>
            <a:off x="7863851" y="5972700"/>
            <a:ext cx="33585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Amit Kumar</a:t>
            </a:r>
            <a:r>
              <a:rPr b="1" i="0" lang="en-US" sz="29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3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The problem: support over text and voice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Build a customer-support assistant on Groq that routes, grounds, calls tools, refuses unsafe requests, and behaves like a phone line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548640" y="1691640"/>
            <a:ext cx="3520440" cy="333756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280160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Agentic support system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822959" y="2468880"/>
            <a:ext cx="301752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Route messages to 3+ intents, each with its own agent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RAG agent grounded in a 10–20 document knowledge base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Tool-calling agent for order status and return eligibility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Input guard for prompt injection; output guard for forbidden claims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Cache classifier calls and report the hit rate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4297679" y="1691640"/>
            <a:ext cx="3520440" cy="333756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/>
          <p:nvPr/>
        </p:nvSpPr>
        <p:spPr>
          <a:xfrm>
            <a:off x="452627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/>
          </a:p>
        </p:txBody>
      </p:sp>
      <p:sp>
        <p:nvSpPr>
          <p:cNvPr id="111" name="Google Shape;111;p2"/>
          <p:cNvSpPr txBox="1"/>
          <p:nvPr/>
        </p:nvSpPr>
        <p:spPr>
          <a:xfrm>
            <a:off x="5029199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turn-taking pipeline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4571999" y="2468880"/>
            <a:ext cx="301752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Audio in, Groq Whisper STT, TTS out, framed as a phone line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Barge-in: silence, noise burst, real interruption, own adversarial case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Provider failure mid-call: retry or fall back, never hang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Measure end of speech to the first audio of the reply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046719" y="1691640"/>
            <a:ext cx="3520440" cy="333756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/>
          <p:nvPr/>
        </p:nvSpPr>
        <p:spPr>
          <a:xfrm>
            <a:off x="827531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8778240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Integration and operations</a:t>
            </a:r>
            <a:endParaRPr/>
          </a:p>
        </p:txBody>
      </p:sp>
      <p:sp>
        <p:nvSpPr>
          <p:cNvPr id="116" name="Google Shape;116;p2"/>
          <p:cNvSpPr txBox="1"/>
          <p:nvPr/>
        </p:nvSpPr>
        <p:spPr>
          <a:xfrm>
            <a:off x="8321040" y="2468880"/>
            <a:ext cx="3017520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Share state when a call moves to text chat or a human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Production evaluation: guardrail regression, latency SLOs, routing A/B</a:t>
            </a:r>
            <a:endParaRPr/>
          </a:p>
          <a:p>
            <a:pPr indent="-201168" lvl="0" marL="201168" marR="0" rtl="0" algn="l">
              <a:spcBef>
                <a:spcPts val="5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Groq degradation: detection, fallback, and failover trade-offs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548640" y="523036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F7A80"/>
                </a:solidFill>
                <a:latin typeface="Calibri"/>
                <a:ea typeface="Calibri"/>
                <a:cs typeface="Calibri"/>
                <a:sym typeface="Calibri"/>
              </a:rPr>
              <a:t>Constraints that shape the design</a:t>
            </a:r>
            <a:endParaRPr/>
          </a:p>
        </p:txBody>
      </p:sp>
      <p:sp>
        <p:nvSpPr>
          <p:cNvPr id="118" name="Google Shape;118;p2"/>
          <p:cNvSpPr/>
          <p:nvPr/>
        </p:nvSpPr>
        <p:spPr>
          <a:xfrm>
            <a:off x="548640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Own domain and knowledge base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2423160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Real recorded audio</a:t>
            </a:r>
            <a:endParaRPr/>
          </a:p>
        </p:txBody>
      </p:sp>
      <p:sp>
        <p:nvSpPr>
          <p:cNvPr id="120" name="Google Shape;120;p2"/>
          <p:cNvSpPr/>
          <p:nvPr/>
        </p:nvSpPr>
        <p:spPr>
          <a:xfrm>
            <a:off x="4297679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Grounding, not guessing</a:t>
            </a:r>
            <a:endParaRPr/>
          </a:p>
        </p:txBody>
      </p:sp>
      <p:sp>
        <p:nvSpPr>
          <p:cNvPr id="121" name="Google Shape;121;p2"/>
          <p:cNvSpPr/>
          <p:nvPr/>
        </p:nvSpPr>
        <p:spPr>
          <a:xfrm>
            <a:off x="6172199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Guardrails hold under pressure</a:t>
            </a:r>
            <a:endParaRPr/>
          </a:p>
        </p:txBody>
      </p:sp>
      <p:sp>
        <p:nvSpPr>
          <p:cNvPr id="122" name="Google Shape;122;p2"/>
          <p:cNvSpPr/>
          <p:nvPr/>
        </p:nvSpPr>
        <p:spPr>
          <a:xfrm>
            <a:off x="8046719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No dropped or duplicated turns</a:t>
            </a:r>
            <a:endParaRPr/>
          </a:p>
        </p:txBody>
      </p:sp>
      <p:sp>
        <p:nvSpPr>
          <p:cNvPr id="123" name="Google Shape;123;p2"/>
          <p:cNvSpPr/>
          <p:nvPr/>
        </p:nvSpPr>
        <p:spPr>
          <a:xfrm>
            <a:off x="9921240" y="5577840"/>
            <a:ext cx="1737360" cy="5486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Keys never committed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Solution at a glance</a:t>
            </a:r>
            <a:endParaRPr/>
          </a:p>
        </p:txBody>
      </p:sp>
      <p:sp>
        <p:nvSpPr>
          <p:cNvPr id="131" name="Google Shape;131;p3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Measured on held-out sets with live Groq calls; every figure is reproducible</a:t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548640" y="1691640"/>
            <a:ext cx="2606040" cy="192024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777240" y="182880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95.5%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777240" y="256032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Routing accuracy</a:t>
            </a:r>
            <a:endParaRPr/>
          </a:p>
        </p:txBody>
      </p:sp>
      <p:sp>
        <p:nvSpPr>
          <p:cNvPr id="135" name="Google Shape;135;p3"/>
          <p:cNvSpPr txBox="1"/>
          <p:nvPr/>
        </p:nvSpPr>
        <p:spPr>
          <a:xfrm>
            <a:off x="777240" y="3127248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110 held-out messages, live</a:t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3383280" y="1691640"/>
            <a:ext cx="2606040" cy="192024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3611880" y="182880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93.8%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3611880" y="256032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Answerable questions answered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3611880" y="3127248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13 / 13 unanswerable declined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6217920" y="1691640"/>
            <a:ext cx="2606040" cy="192024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446520" y="182880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0.922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6446520" y="256032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Evidence recall</a:t>
            </a:r>
            <a:endParaRPr/>
          </a:p>
        </p:txBody>
      </p:sp>
      <p:sp>
        <p:nvSpPr>
          <p:cNvPr id="143" name="Google Shape;143;p3"/>
          <p:cNvSpPr txBox="1"/>
          <p:nvPr/>
        </p:nvSpPr>
        <p:spPr>
          <a:xfrm>
            <a:off x="6446520" y="3127248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expected documents reaching the answerer</a:t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9052560" y="1691640"/>
            <a:ext cx="2606040" cy="192024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2.1–2.9 s</a:t>
            </a:r>
            <a:endParaRPr/>
          </a:p>
        </p:txBody>
      </p:sp>
      <p:sp>
        <p:nvSpPr>
          <p:cNvPr id="146" name="Google Shape;146;p3"/>
          <p:cNvSpPr txBox="1"/>
          <p:nvPr/>
        </p:nvSpPr>
        <p:spPr>
          <a:xfrm>
            <a:off x="9281160" y="256032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response start</a:t>
            </a:r>
            <a:endParaRPr/>
          </a:p>
        </p:txBody>
      </p:sp>
      <p:sp>
        <p:nvSpPr>
          <p:cNvPr id="147" name="Google Shape;147;p3"/>
          <p:cNvSpPr txBox="1"/>
          <p:nvPr/>
        </p:nvSpPr>
        <p:spPr>
          <a:xfrm>
            <a:off x="9281160" y="3127248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end of speech to spoken reply</a:t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54864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1097280" y="3931920"/>
            <a:ext cx="4937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Hybrid router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1097280" y="4242816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Rules, then labeled examples, then the LLM only when needed: 0.245 LLM calls per message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6217920" y="395020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52" name="Google Shape;152;p3"/>
          <p:cNvSpPr txBox="1"/>
          <p:nvPr/>
        </p:nvSpPr>
        <p:spPr>
          <a:xfrm>
            <a:off x="6766559" y="3931920"/>
            <a:ext cx="4937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Conversation agent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6766559" y="4242816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Greetings, off-topic and unclear input get a fixed, safe reply, never a dead end</a:t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54864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55" name="Google Shape;155;p3"/>
          <p:cNvSpPr txBox="1"/>
          <p:nvPr/>
        </p:nvSpPr>
        <p:spPr>
          <a:xfrm>
            <a:off x="1097280" y="4983479"/>
            <a:ext cx="4937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Hybrid retrieval</a:t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1097280" y="5294375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e5 + BM25 fusion; the gate favors recall and the answerer declines without evidence</a:t>
            </a:r>
            <a:endParaRPr/>
          </a:p>
        </p:txBody>
      </p:sp>
      <p:sp>
        <p:nvSpPr>
          <p:cNvPr id="157" name="Google Shape;157;p3"/>
          <p:cNvSpPr/>
          <p:nvPr/>
        </p:nvSpPr>
        <p:spPr>
          <a:xfrm>
            <a:off x="6217920" y="5001767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6766559" y="4983479"/>
            <a:ext cx="49377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built per call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6766559" y="5294375"/>
            <a:ext cx="4937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Models load when the call connects, so each turn only pays for STT, routing and TTS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161" name="Google Shape;161;p3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Every required capability, with its status</a:t>
            </a:r>
            <a:endParaRPr/>
          </a:p>
        </p:txBody>
      </p:sp>
      <p:sp>
        <p:nvSpPr>
          <p:cNvPr id="167" name="Google Shape;167;p4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✓ implemented and evidenced   ◐ partial, and stated as partial</a:t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548640" y="1691640"/>
            <a:ext cx="3520440" cy="434340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1280160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Part A · Agentic support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822959" y="251460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72" name="Google Shape;172;p4"/>
          <p:cNvSpPr txBox="1"/>
          <p:nvPr/>
        </p:nvSpPr>
        <p:spPr>
          <a:xfrm>
            <a:off x="1143000" y="251460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Router: 6 intents, distinct handlers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822959" y="3081528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74" name="Google Shape;174;p4"/>
          <p:cNvSpPr txBox="1"/>
          <p:nvPr/>
        </p:nvSpPr>
        <p:spPr>
          <a:xfrm>
            <a:off x="1143000" y="3081528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RAG over 12 KB docs with embeddings</a:t>
            </a:r>
            <a:endParaRPr/>
          </a:p>
        </p:txBody>
      </p:sp>
      <p:sp>
        <p:nvSpPr>
          <p:cNvPr id="175" name="Google Shape;175;p4"/>
          <p:cNvSpPr txBox="1"/>
          <p:nvPr/>
        </p:nvSpPr>
        <p:spPr>
          <a:xfrm>
            <a:off x="822959" y="364845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76" name="Google Shape;176;p4"/>
          <p:cNvSpPr txBox="1"/>
          <p:nvPr/>
        </p:nvSpPr>
        <p:spPr>
          <a:xfrm>
            <a:off x="1143000" y="3648456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Groq native function calling, read-only tools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822959" y="4215383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78" name="Google Shape;178;p4"/>
          <p:cNvSpPr txBox="1"/>
          <p:nvPr/>
        </p:nvSpPr>
        <p:spPr>
          <a:xfrm>
            <a:off x="1143000" y="4215383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Input and output guards in code, fail-closed</a:t>
            </a:r>
            <a:endParaRPr/>
          </a:p>
        </p:txBody>
      </p:sp>
      <p:sp>
        <p:nvSpPr>
          <p:cNvPr id="179" name="Google Shape;179;p4"/>
          <p:cNvSpPr txBox="1"/>
          <p:nvPr/>
        </p:nvSpPr>
        <p:spPr>
          <a:xfrm>
            <a:off x="822959" y="4782312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80" name="Google Shape;180;p4"/>
          <p:cNvSpPr txBox="1"/>
          <p:nvPr/>
        </p:nvSpPr>
        <p:spPr>
          <a:xfrm>
            <a:off x="1143000" y="4782312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Classifier cache with measured hit rate</a:t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822959" y="534924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82" name="Google Shape;182;p4"/>
          <p:cNvSpPr txBox="1"/>
          <p:nvPr/>
        </p:nvSpPr>
        <p:spPr>
          <a:xfrm>
            <a:off x="1143000" y="534924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Refund vs eligibility reconciliation</a:t>
            </a:r>
            <a:endParaRPr/>
          </a:p>
        </p:txBody>
      </p:sp>
      <p:sp>
        <p:nvSpPr>
          <p:cNvPr id="183" name="Google Shape;183;p4"/>
          <p:cNvSpPr/>
          <p:nvPr/>
        </p:nvSpPr>
        <p:spPr>
          <a:xfrm>
            <a:off x="4297679" y="1691640"/>
            <a:ext cx="3520440" cy="434340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452627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5029199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Part B · Voice line</a:t>
            </a:r>
            <a:endParaRPr/>
          </a:p>
        </p:txBody>
      </p:sp>
      <p:sp>
        <p:nvSpPr>
          <p:cNvPr id="186" name="Google Shape;186;p4"/>
          <p:cNvSpPr txBox="1"/>
          <p:nvPr/>
        </p:nvSpPr>
        <p:spPr>
          <a:xfrm>
            <a:off x="4571999" y="251460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87" name="Google Shape;187;p4"/>
          <p:cNvSpPr txBox="1"/>
          <p:nvPr/>
        </p:nvSpPr>
        <p:spPr>
          <a:xfrm>
            <a:off x="4892040" y="251460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Barge-in: silence, noise, speech, adversarial</a:t>
            </a:r>
            <a:endParaRPr/>
          </a:p>
        </p:txBody>
      </p:sp>
      <p:sp>
        <p:nvSpPr>
          <p:cNvPr id="188" name="Google Shape;188;p4"/>
          <p:cNvSpPr txBox="1"/>
          <p:nvPr/>
        </p:nvSpPr>
        <p:spPr>
          <a:xfrm>
            <a:off x="4571999" y="3081528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89" name="Google Shape;189;p4"/>
          <p:cNvSpPr txBox="1"/>
          <p:nvPr/>
        </p:nvSpPr>
        <p:spPr>
          <a:xfrm>
            <a:off x="4892040" y="3081528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STT failure: retry, then safe spoken handoff</a:t>
            </a:r>
            <a:endParaRPr/>
          </a:p>
        </p:txBody>
      </p:sp>
      <p:sp>
        <p:nvSpPr>
          <p:cNvPr id="190" name="Google Shape;190;p4"/>
          <p:cNvSpPr txBox="1"/>
          <p:nvPr/>
        </p:nvSpPr>
        <p:spPr>
          <a:xfrm>
            <a:off x="4571999" y="364845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91" name="Google Shape;191;p4"/>
          <p:cNvSpPr txBox="1"/>
          <p:nvPr/>
        </p:nvSpPr>
        <p:spPr>
          <a:xfrm>
            <a:off x="4892040" y="3648456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Latency instrumented per turn</a:t>
            </a:r>
            <a:endParaRPr/>
          </a:p>
        </p:txBody>
      </p:sp>
      <p:sp>
        <p:nvSpPr>
          <p:cNvPr id="192" name="Google Shape;192;p4"/>
          <p:cNvSpPr txBox="1"/>
          <p:nvPr/>
        </p:nvSpPr>
        <p:spPr>
          <a:xfrm>
            <a:off x="4571999" y="4215383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193" name="Google Shape;193;p4"/>
          <p:cNvSpPr txBox="1"/>
          <p:nvPr/>
        </p:nvSpPr>
        <p:spPr>
          <a:xfrm>
            <a:off x="4892040" y="4215383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Real recorded audio, not synthetic input</a:t>
            </a:r>
            <a:endParaRPr/>
          </a:p>
        </p:txBody>
      </p:sp>
      <p:sp>
        <p:nvSpPr>
          <p:cNvPr id="194" name="Google Shape;194;p4"/>
          <p:cNvSpPr txBox="1"/>
          <p:nvPr/>
        </p:nvSpPr>
        <p:spPr>
          <a:xfrm>
            <a:off x="4571999" y="4782312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◐</a:t>
            </a:r>
            <a:endParaRPr/>
          </a:p>
        </p:txBody>
      </p:sp>
      <p:sp>
        <p:nvSpPr>
          <p:cNvPr id="195" name="Google Shape;195;p4"/>
          <p:cNvSpPr txBox="1"/>
          <p:nvPr/>
        </p:nvSpPr>
        <p:spPr>
          <a:xfrm>
            <a:off x="4892040" y="4782312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First-acoustic-sample timing not measured</a:t>
            </a:r>
            <a:endParaRPr/>
          </a:p>
        </p:txBody>
      </p:sp>
      <p:sp>
        <p:nvSpPr>
          <p:cNvPr id="196" name="Google Shape;196;p4"/>
          <p:cNvSpPr txBox="1"/>
          <p:nvPr/>
        </p:nvSpPr>
        <p:spPr>
          <a:xfrm>
            <a:off x="4571999" y="534924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◐</a:t>
            </a:r>
            <a:endParaRPr/>
          </a:p>
        </p:txBody>
      </p:sp>
      <p:sp>
        <p:nvSpPr>
          <p:cNvPr id="197" name="Google Shape;197;p4"/>
          <p:cNvSpPr txBox="1"/>
          <p:nvPr/>
        </p:nvSpPr>
        <p:spPr>
          <a:xfrm>
            <a:off x="4892040" y="534924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Live microphone barge-in not demonstrated</a:t>
            </a:r>
            <a:endParaRPr/>
          </a:p>
        </p:txBody>
      </p:sp>
      <p:sp>
        <p:nvSpPr>
          <p:cNvPr id="198" name="Google Shape;198;p4"/>
          <p:cNvSpPr/>
          <p:nvPr/>
        </p:nvSpPr>
        <p:spPr>
          <a:xfrm>
            <a:off x="8046719" y="1691640"/>
            <a:ext cx="3520440" cy="434340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4"/>
          <p:cNvSpPr/>
          <p:nvPr/>
        </p:nvSpPr>
        <p:spPr>
          <a:xfrm>
            <a:off x="8275319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/>
          </a:p>
        </p:txBody>
      </p:sp>
      <p:sp>
        <p:nvSpPr>
          <p:cNvPr id="200" name="Google Shape;200;p4"/>
          <p:cNvSpPr txBox="1"/>
          <p:nvPr/>
        </p:nvSpPr>
        <p:spPr>
          <a:xfrm>
            <a:off x="8778240" y="192024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Part C and process</a:t>
            </a:r>
            <a:endParaRPr/>
          </a:p>
        </p:txBody>
      </p:sp>
      <p:sp>
        <p:nvSpPr>
          <p:cNvPr id="201" name="Google Shape;201;p4"/>
          <p:cNvSpPr txBox="1"/>
          <p:nvPr/>
        </p:nvSpPr>
        <p:spPr>
          <a:xfrm>
            <a:off x="8321040" y="251460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02" name="Google Shape;202;p4"/>
          <p:cNvSpPr txBox="1"/>
          <p:nvPr/>
        </p:nvSpPr>
        <p:spPr>
          <a:xfrm>
            <a:off x="8641080" y="251460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and text share session state + handoff</a:t>
            </a:r>
            <a:endParaRPr/>
          </a:p>
        </p:txBody>
      </p:sp>
      <p:sp>
        <p:nvSpPr>
          <p:cNvPr id="203" name="Google Shape;203;p4"/>
          <p:cNvSpPr txBox="1"/>
          <p:nvPr/>
        </p:nvSpPr>
        <p:spPr>
          <a:xfrm>
            <a:off x="8321040" y="3081528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◐</a:t>
            </a:r>
            <a:endParaRPr/>
          </a:p>
        </p:txBody>
      </p:sp>
      <p:sp>
        <p:nvSpPr>
          <p:cNvPr id="204" name="Google Shape;204;p4"/>
          <p:cNvSpPr txBox="1"/>
          <p:nvPr/>
        </p:nvSpPr>
        <p:spPr>
          <a:xfrm>
            <a:off x="8641080" y="3081528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State is process-local, not durable</a:t>
            </a:r>
            <a:endParaRPr/>
          </a:p>
        </p:txBody>
      </p:sp>
      <p:sp>
        <p:nvSpPr>
          <p:cNvPr id="205" name="Google Shape;205;p4"/>
          <p:cNvSpPr txBox="1"/>
          <p:nvPr/>
        </p:nvSpPr>
        <p:spPr>
          <a:xfrm>
            <a:off x="8321040" y="3648456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◐</a:t>
            </a:r>
            <a:endParaRPr/>
          </a:p>
        </p:txBody>
      </p:sp>
      <p:sp>
        <p:nvSpPr>
          <p:cNvPr id="206" name="Google Shape;206;p4"/>
          <p:cNvSpPr txBox="1"/>
          <p:nvPr/>
        </p:nvSpPr>
        <p:spPr>
          <a:xfrm>
            <a:off x="8641080" y="3648456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LLM provider failover designed, not built</a:t>
            </a:r>
            <a:endParaRPr/>
          </a:p>
        </p:txBody>
      </p:sp>
      <p:sp>
        <p:nvSpPr>
          <p:cNvPr id="207" name="Google Shape;207;p4"/>
          <p:cNvSpPr txBox="1"/>
          <p:nvPr/>
        </p:nvSpPr>
        <p:spPr>
          <a:xfrm>
            <a:off x="8321040" y="4215383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08" name="Google Shape;208;p4"/>
          <p:cNvSpPr txBox="1"/>
          <p:nvPr/>
        </p:nvSpPr>
        <p:spPr>
          <a:xfrm>
            <a:off x="8641080" y="4215383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Incremental commits and decisions log</a:t>
            </a:r>
            <a:endParaRPr/>
          </a:p>
        </p:txBody>
      </p:sp>
      <p:sp>
        <p:nvSpPr>
          <p:cNvPr id="209" name="Google Shape;209;p4"/>
          <p:cNvSpPr txBox="1"/>
          <p:nvPr/>
        </p:nvSpPr>
        <p:spPr>
          <a:xfrm>
            <a:off x="8321040" y="4782312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10" name="Google Shape;210;p4"/>
          <p:cNvSpPr txBox="1"/>
          <p:nvPr/>
        </p:nvSpPr>
        <p:spPr>
          <a:xfrm>
            <a:off x="8641080" y="4782312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Red-team findings reproduced, open ones kept</a:t>
            </a:r>
            <a:endParaRPr/>
          </a:p>
        </p:txBody>
      </p:sp>
      <p:sp>
        <p:nvSpPr>
          <p:cNvPr id="211" name="Google Shape;211;p4"/>
          <p:cNvSpPr txBox="1"/>
          <p:nvPr/>
        </p:nvSpPr>
        <p:spPr>
          <a:xfrm>
            <a:off x="8321040" y="5349240"/>
            <a:ext cx="274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2E7D4F"/>
                </a:solidFill>
                <a:latin typeface="Calibri"/>
                <a:ea typeface="Calibri"/>
                <a:cs typeface="Calibri"/>
                <a:sym typeface="Calibri"/>
              </a:rPr>
              <a:t>✓</a:t>
            </a:r>
            <a:endParaRPr/>
          </a:p>
        </p:txBody>
      </p:sp>
      <p:sp>
        <p:nvSpPr>
          <p:cNvPr id="212" name="Google Shape;212;p4"/>
          <p:cNvSpPr txBox="1"/>
          <p:nvPr/>
        </p:nvSpPr>
        <p:spPr>
          <a:xfrm>
            <a:off x="8641080" y="5349240"/>
            <a:ext cx="2788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Held-out eval sets, live vs offline labels</a:t>
            </a:r>
            <a:endParaRPr/>
          </a:p>
        </p:txBody>
      </p:sp>
      <p:sp>
        <p:nvSpPr>
          <p:cNvPr id="213" name="Google Shape;213;p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214" name="Google Shape;214;p4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Architecture: one guarded service for text and voice</a:t>
            </a:r>
            <a:endParaRPr/>
          </a:p>
        </p:txBody>
      </p:sp>
      <p:sp>
        <p:nvSpPr>
          <p:cNvPr id="220" name="Google Shape;220;p5"/>
          <p:cNvSpPr/>
          <p:nvPr/>
        </p:nvSpPr>
        <p:spPr>
          <a:xfrm>
            <a:off x="548640" y="1691640"/>
            <a:ext cx="2011680" cy="86868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Text chat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Streamlit UI, mic in the box</a:t>
            </a:r>
            <a:endParaRPr/>
          </a:p>
        </p:txBody>
      </p:sp>
      <p:sp>
        <p:nvSpPr>
          <p:cNvPr id="221" name="Google Shape;221;p5"/>
          <p:cNvSpPr/>
          <p:nvPr/>
        </p:nvSpPr>
        <p:spPr>
          <a:xfrm>
            <a:off x="548640" y="2788920"/>
            <a:ext cx="2011680" cy="16002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line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WebRTC + Silero VAD, barge-in coordinator, Groq Whisper STT</a:t>
            </a:r>
            <a:endParaRPr/>
          </a:p>
        </p:txBody>
      </p:sp>
      <p:sp>
        <p:nvSpPr>
          <p:cNvPr id="222" name="Google Shape;222;p5"/>
          <p:cNvSpPr/>
          <p:nvPr/>
        </p:nvSpPr>
        <p:spPr>
          <a:xfrm>
            <a:off x="548640" y="4663440"/>
            <a:ext cx="2011680" cy="86868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Reply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text, or local TTS playback</a:t>
            </a:r>
            <a:endParaRPr/>
          </a:p>
        </p:txBody>
      </p:sp>
      <p:sp>
        <p:nvSpPr>
          <p:cNvPr id="223" name="Google Shape;223;p5"/>
          <p:cNvSpPr/>
          <p:nvPr/>
        </p:nvSpPr>
        <p:spPr>
          <a:xfrm>
            <a:off x="2880360" y="1600200"/>
            <a:ext cx="6355080" cy="4251960"/>
          </a:xfrm>
          <a:prstGeom prst="roundRect">
            <a:avLst>
              <a:gd fmla="val 4000" name="adj"/>
            </a:avLst>
          </a:prstGeom>
          <a:solidFill>
            <a:srgbClr val="F6FAFA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 txBox="1"/>
          <p:nvPr/>
        </p:nvSpPr>
        <p:spPr>
          <a:xfrm>
            <a:off x="3108960" y="1719072"/>
            <a:ext cx="5852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F7A80"/>
                </a:solidFill>
                <a:latin typeface="Calibri"/>
                <a:ea typeface="Calibri"/>
                <a:cs typeface="Calibri"/>
                <a:sym typeface="Calibri"/>
              </a:rPr>
              <a:t>SupportService  ·  shared by every channel</a:t>
            </a:r>
            <a:endParaRPr/>
          </a:p>
        </p:txBody>
      </p:sp>
      <p:sp>
        <p:nvSpPr>
          <p:cNvPr id="225" name="Google Shape;225;p5"/>
          <p:cNvSpPr/>
          <p:nvPr/>
        </p:nvSpPr>
        <p:spPr>
          <a:xfrm>
            <a:off x="3108960" y="2103120"/>
            <a:ext cx="1783080" cy="7772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NFKC, size, control chars</a:t>
            </a:r>
            <a:endParaRPr/>
          </a:p>
        </p:txBody>
      </p:sp>
      <p:sp>
        <p:nvSpPr>
          <p:cNvPr id="226" name="Google Shape;226;p5"/>
          <p:cNvSpPr/>
          <p:nvPr/>
        </p:nvSpPr>
        <p:spPr>
          <a:xfrm>
            <a:off x="5166360" y="2103120"/>
            <a:ext cx="1783080" cy="7772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Input guard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rules + Groq classifier</a:t>
            </a:r>
            <a:endParaRPr/>
          </a:p>
        </p:txBody>
      </p:sp>
      <p:sp>
        <p:nvSpPr>
          <p:cNvPr id="227" name="Google Shape;227;p5"/>
          <p:cNvSpPr/>
          <p:nvPr/>
        </p:nvSpPr>
        <p:spPr>
          <a:xfrm>
            <a:off x="7223760" y="2103120"/>
            <a:ext cx="1783080" cy="7772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Hybrid router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rules → examples → LLM</a:t>
            </a:r>
            <a:endParaRPr/>
          </a:p>
        </p:txBody>
      </p:sp>
      <p:cxnSp>
        <p:nvCxnSpPr>
          <p:cNvPr id="228" name="Google Shape;228;p5"/>
          <p:cNvCxnSpPr/>
          <p:nvPr/>
        </p:nvCxnSpPr>
        <p:spPr>
          <a:xfrm>
            <a:off x="4892040" y="248716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29" name="Google Shape;229;p5"/>
          <p:cNvCxnSpPr/>
          <p:nvPr/>
        </p:nvCxnSpPr>
        <p:spPr>
          <a:xfrm>
            <a:off x="6949440" y="248716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0" name="Google Shape;230;p5"/>
          <p:cNvCxnSpPr/>
          <p:nvPr/>
        </p:nvCxnSpPr>
        <p:spPr>
          <a:xfrm>
            <a:off x="8115300" y="2880360"/>
            <a:ext cx="0" cy="24688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1" name="Google Shape;231;p5"/>
          <p:cNvCxnSpPr/>
          <p:nvPr/>
        </p:nvCxnSpPr>
        <p:spPr>
          <a:xfrm>
            <a:off x="3771900" y="3127248"/>
            <a:ext cx="4581144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2" name="Google Shape;232;p5"/>
          <p:cNvCxnSpPr/>
          <p:nvPr/>
        </p:nvCxnSpPr>
        <p:spPr>
          <a:xfrm>
            <a:off x="3771900" y="3127248"/>
            <a:ext cx="0" cy="23774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3" name="Google Shape;233;p5"/>
          <p:cNvSpPr/>
          <p:nvPr/>
        </p:nvSpPr>
        <p:spPr>
          <a:xfrm>
            <a:off x="3108960" y="3364992"/>
            <a:ext cx="132588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RAG agent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e5 + BM25, cited</a:t>
            </a:r>
            <a:endParaRPr/>
          </a:p>
        </p:txBody>
      </p:sp>
      <p:cxnSp>
        <p:nvCxnSpPr>
          <p:cNvPr id="234" name="Google Shape;234;p5"/>
          <p:cNvCxnSpPr/>
          <p:nvPr/>
        </p:nvCxnSpPr>
        <p:spPr>
          <a:xfrm>
            <a:off x="3771900" y="4279392"/>
            <a:ext cx="0" cy="24688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5" name="Google Shape;235;p5"/>
          <p:cNvCxnSpPr/>
          <p:nvPr/>
        </p:nvCxnSpPr>
        <p:spPr>
          <a:xfrm>
            <a:off x="5298948" y="3127248"/>
            <a:ext cx="0" cy="23774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6" name="Google Shape;236;p5"/>
          <p:cNvSpPr/>
          <p:nvPr/>
        </p:nvSpPr>
        <p:spPr>
          <a:xfrm>
            <a:off x="4636008" y="3364992"/>
            <a:ext cx="132588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Order agent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read-only tools</a:t>
            </a:r>
            <a:endParaRPr/>
          </a:p>
        </p:txBody>
      </p:sp>
      <p:cxnSp>
        <p:nvCxnSpPr>
          <p:cNvPr id="237" name="Google Shape;237;p5"/>
          <p:cNvCxnSpPr/>
          <p:nvPr/>
        </p:nvCxnSpPr>
        <p:spPr>
          <a:xfrm>
            <a:off x="5298948" y="4279392"/>
            <a:ext cx="0" cy="24688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38" name="Google Shape;238;p5"/>
          <p:cNvCxnSpPr/>
          <p:nvPr/>
        </p:nvCxnSpPr>
        <p:spPr>
          <a:xfrm>
            <a:off x="6825996" y="3127248"/>
            <a:ext cx="0" cy="23774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9" name="Google Shape;239;p5"/>
          <p:cNvSpPr/>
          <p:nvPr/>
        </p:nvSpPr>
        <p:spPr>
          <a:xfrm>
            <a:off x="6163056" y="3364992"/>
            <a:ext cx="132588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Handoff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summary + reference</a:t>
            </a:r>
            <a:endParaRPr/>
          </a:p>
        </p:txBody>
      </p:sp>
      <p:cxnSp>
        <p:nvCxnSpPr>
          <p:cNvPr id="240" name="Google Shape;240;p5"/>
          <p:cNvCxnSpPr/>
          <p:nvPr/>
        </p:nvCxnSpPr>
        <p:spPr>
          <a:xfrm>
            <a:off x="6825996" y="4279392"/>
            <a:ext cx="0" cy="24688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1" name="Google Shape;241;p5"/>
          <p:cNvCxnSpPr/>
          <p:nvPr/>
        </p:nvCxnSpPr>
        <p:spPr>
          <a:xfrm>
            <a:off x="8353044" y="3127248"/>
            <a:ext cx="0" cy="23774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2" name="Google Shape;242;p5"/>
          <p:cNvSpPr/>
          <p:nvPr/>
        </p:nvSpPr>
        <p:spPr>
          <a:xfrm>
            <a:off x="7690104" y="3364992"/>
            <a:ext cx="132588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Conversation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templates only</a:t>
            </a:r>
            <a:endParaRPr/>
          </a:p>
        </p:txBody>
      </p:sp>
      <p:cxnSp>
        <p:nvCxnSpPr>
          <p:cNvPr id="243" name="Google Shape;243;p5"/>
          <p:cNvCxnSpPr/>
          <p:nvPr/>
        </p:nvCxnSpPr>
        <p:spPr>
          <a:xfrm>
            <a:off x="8353044" y="4279392"/>
            <a:ext cx="0" cy="24688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4" name="Google Shape;244;p5"/>
          <p:cNvCxnSpPr/>
          <p:nvPr/>
        </p:nvCxnSpPr>
        <p:spPr>
          <a:xfrm>
            <a:off x="3771900" y="4526280"/>
            <a:ext cx="4581144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5" name="Google Shape;245;p5"/>
          <p:cNvCxnSpPr/>
          <p:nvPr/>
        </p:nvCxnSpPr>
        <p:spPr>
          <a:xfrm>
            <a:off x="6035040" y="4526280"/>
            <a:ext cx="0" cy="27432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6" name="Google Shape;246;p5"/>
          <p:cNvSpPr/>
          <p:nvPr/>
        </p:nvSpPr>
        <p:spPr>
          <a:xfrm>
            <a:off x="4206240" y="4800600"/>
            <a:ext cx="3657600" cy="82296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Output claim guard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blocks unverified IDs, dates, amounts, promises</a:t>
            </a:r>
            <a:endParaRPr/>
          </a:p>
        </p:txBody>
      </p:sp>
      <p:cxnSp>
        <p:nvCxnSpPr>
          <p:cNvPr id="247" name="Google Shape;247;p5"/>
          <p:cNvCxnSpPr/>
          <p:nvPr/>
        </p:nvCxnSpPr>
        <p:spPr>
          <a:xfrm>
            <a:off x="2560320" y="2121408"/>
            <a:ext cx="548640" cy="27432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8" name="Google Shape;248;p5"/>
          <p:cNvCxnSpPr/>
          <p:nvPr/>
        </p:nvCxnSpPr>
        <p:spPr>
          <a:xfrm flipH="1" rot="10800000">
            <a:off x="2560320" y="2606040"/>
            <a:ext cx="548640" cy="96012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249" name="Google Shape;249;p5"/>
          <p:cNvCxnSpPr/>
          <p:nvPr/>
        </p:nvCxnSpPr>
        <p:spPr>
          <a:xfrm rot="10800000">
            <a:off x="2560320" y="5102352"/>
            <a:ext cx="1645920" cy="10972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0" name="Google Shape;250;p5"/>
          <p:cNvSpPr/>
          <p:nvPr/>
        </p:nvSpPr>
        <p:spPr>
          <a:xfrm>
            <a:off x="9555480" y="1600200"/>
            <a:ext cx="2103120" cy="105156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Groq API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gpt-oss-20b: guard, router tier 2, answers, tool choice · Whisper STT</a:t>
            </a:r>
            <a:endParaRPr/>
          </a:p>
        </p:txBody>
      </p:sp>
      <p:cxnSp>
        <p:nvCxnSpPr>
          <p:cNvPr id="251" name="Google Shape;251;p5"/>
          <p:cNvCxnSpPr/>
          <p:nvPr/>
        </p:nvCxnSpPr>
        <p:spPr>
          <a:xfrm rot="10800000">
            <a:off x="9235440" y="2125980"/>
            <a:ext cx="320040" cy="0"/>
          </a:xfrm>
          <a:prstGeom prst="straightConnector1">
            <a:avLst/>
          </a:prstGeom>
          <a:noFill/>
          <a:ln cap="flat" cmpd="sng" w="15875">
            <a:solidFill>
              <a:srgbClr val="A9BCBE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2" name="Google Shape;252;p5"/>
          <p:cNvSpPr/>
          <p:nvPr/>
        </p:nvSpPr>
        <p:spPr>
          <a:xfrm>
            <a:off x="9555480" y="2788920"/>
            <a:ext cx="2103120" cy="7772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Local models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MiniLM routing examples · e5 retrieval</a:t>
            </a:r>
            <a:endParaRPr/>
          </a:p>
        </p:txBody>
      </p:sp>
      <p:cxnSp>
        <p:nvCxnSpPr>
          <p:cNvPr id="253" name="Google Shape;253;p5"/>
          <p:cNvCxnSpPr/>
          <p:nvPr/>
        </p:nvCxnSpPr>
        <p:spPr>
          <a:xfrm rot="10800000">
            <a:off x="9235440" y="3177539"/>
            <a:ext cx="320040" cy="0"/>
          </a:xfrm>
          <a:prstGeom prst="straightConnector1">
            <a:avLst/>
          </a:prstGeom>
          <a:noFill/>
          <a:ln cap="flat" cmpd="sng" w="15875">
            <a:solidFill>
              <a:srgbClr val="A9BCBE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4" name="Google Shape;254;p5"/>
          <p:cNvSpPr/>
          <p:nvPr/>
        </p:nvSpPr>
        <p:spPr>
          <a:xfrm>
            <a:off x="9555480" y="3703320"/>
            <a:ext cx="2103120" cy="658368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Knowledge base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12 docs · hybrid index</a:t>
            </a:r>
            <a:endParaRPr/>
          </a:p>
        </p:txBody>
      </p:sp>
      <p:cxnSp>
        <p:nvCxnSpPr>
          <p:cNvPr id="255" name="Google Shape;255;p5"/>
          <p:cNvCxnSpPr/>
          <p:nvPr/>
        </p:nvCxnSpPr>
        <p:spPr>
          <a:xfrm rot="10800000">
            <a:off x="9235440" y="4032504"/>
            <a:ext cx="320040" cy="0"/>
          </a:xfrm>
          <a:prstGeom prst="straightConnector1">
            <a:avLst/>
          </a:prstGeom>
          <a:noFill/>
          <a:ln cap="flat" cmpd="sng" w="15875">
            <a:solidFill>
              <a:srgbClr val="A9BCBE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6" name="Google Shape;256;p5"/>
          <p:cNvSpPr/>
          <p:nvPr/>
        </p:nvSpPr>
        <p:spPr>
          <a:xfrm>
            <a:off x="9555480" y="4498848"/>
            <a:ext cx="2103120" cy="658368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Order records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read-only · ownership-checked</a:t>
            </a:r>
            <a:endParaRPr/>
          </a:p>
        </p:txBody>
      </p:sp>
      <p:cxnSp>
        <p:nvCxnSpPr>
          <p:cNvPr id="257" name="Google Shape;257;p5"/>
          <p:cNvCxnSpPr/>
          <p:nvPr/>
        </p:nvCxnSpPr>
        <p:spPr>
          <a:xfrm rot="10800000">
            <a:off x="9235440" y="4828032"/>
            <a:ext cx="320040" cy="0"/>
          </a:xfrm>
          <a:prstGeom prst="straightConnector1">
            <a:avLst/>
          </a:prstGeom>
          <a:noFill/>
          <a:ln cap="flat" cmpd="sng" w="15875">
            <a:solidFill>
              <a:srgbClr val="A9BCBE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8" name="Google Shape;258;p5"/>
          <p:cNvSpPr/>
          <p:nvPr/>
        </p:nvSpPr>
        <p:spPr>
          <a:xfrm>
            <a:off x="9555480" y="5294376"/>
            <a:ext cx="2103120" cy="658368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Session memory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verified slots + transcript</a:t>
            </a:r>
            <a:endParaRPr/>
          </a:p>
        </p:txBody>
      </p:sp>
      <p:cxnSp>
        <p:nvCxnSpPr>
          <p:cNvPr id="259" name="Google Shape;259;p5"/>
          <p:cNvCxnSpPr/>
          <p:nvPr/>
        </p:nvCxnSpPr>
        <p:spPr>
          <a:xfrm rot="10800000">
            <a:off x="9235440" y="5623560"/>
            <a:ext cx="320040" cy="0"/>
          </a:xfrm>
          <a:prstGeom prst="straightConnector1">
            <a:avLst/>
          </a:prstGeom>
          <a:noFill/>
          <a:ln cap="flat" cmpd="sng" w="15875">
            <a:solidFill>
              <a:srgbClr val="A9BCBE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60" name="Google Shape;260;p5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261" name="Google Shape;261;p5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6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Every step fails safe, and none of them fails silently</a:t>
            </a:r>
            <a:endParaRPr/>
          </a:p>
        </p:txBody>
      </p:sp>
      <p:sp>
        <p:nvSpPr>
          <p:cNvPr id="267" name="Google Shape;267;p6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Each stage has a named failure outcome and a customer-facing reply</a:t>
            </a: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548640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70" name="Google Shape;270;p6"/>
          <p:cNvSpPr txBox="1"/>
          <p:nvPr/>
        </p:nvSpPr>
        <p:spPr>
          <a:xfrm>
            <a:off x="713232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Validate</a:t>
            </a:r>
            <a:endParaRPr/>
          </a:p>
        </p:txBody>
      </p:sp>
      <p:sp>
        <p:nvSpPr>
          <p:cNvPr id="271" name="Google Shape;271;p6"/>
          <p:cNvSpPr txBox="1"/>
          <p:nvPr/>
        </p:nvSpPr>
        <p:spPr>
          <a:xfrm>
            <a:off x="713232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Unicode, size, control characters</a:t>
            </a:r>
            <a:endParaRPr/>
          </a:p>
        </p:txBody>
      </p:sp>
      <p:cxnSp>
        <p:nvCxnSpPr>
          <p:cNvPr id="272" name="Google Shape;272;p6"/>
          <p:cNvCxnSpPr/>
          <p:nvPr/>
        </p:nvCxnSpPr>
        <p:spPr>
          <a:xfrm>
            <a:off x="2267712" y="2624328"/>
            <a:ext cx="155448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3" name="Google Shape;273;p6"/>
          <p:cNvSpPr/>
          <p:nvPr/>
        </p:nvSpPr>
        <p:spPr>
          <a:xfrm>
            <a:off x="548640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 txBox="1"/>
          <p:nvPr/>
        </p:nvSpPr>
        <p:spPr>
          <a:xfrm>
            <a:off x="685800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275" name="Google Shape;275;p6"/>
          <p:cNvSpPr txBox="1"/>
          <p:nvPr/>
        </p:nvSpPr>
        <p:spPr>
          <a:xfrm>
            <a:off x="685800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Rejected: “couldn’t read that”</a:t>
            </a:r>
            <a:endParaRPr/>
          </a:p>
        </p:txBody>
      </p:sp>
      <p:sp>
        <p:nvSpPr>
          <p:cNvPr id="276" name="Google Shape;276;p6"/>
          <p:cNvSpPr/>
          <p:nvPr/>
        </p:nvSpPr>
        <p:spPr>
          <a:xfrm>
            <a:off x="2423160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6"/>
          <p:cNvSpPr/>
          <p:nvPr/>
        </p:nvSpPr>
        <p:spPr>
          <a:xfrm>
            <a:off x="258775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78" name="Google Shape;278;p6"/>
          <p:cNvSpPr txBox="1"/>
          <p:nvPr/>
        </p:nvSpPr>
        <p:spPr>
          <a:xfrm>
            <a:off x="2587752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Input guard</a:t>
            </a:r>
            <a:endParaRPr/>
          </a:p>
        </p:txBody>
      </p:sp>
      <p:sp>
        <p:nvSpPr>
          <p:cNvPr id="279" name="Google Shape;279;p6"/>
          <p:cNvSpPr txBox="1"/>
          <p:nvPr/>
        </p:nvSpPr>
        <p:spPr>
          <a:xfrm>
            <a:off x="2587752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 signals + Groq safety classifier</a:t>
            </a:r>
            <a:endParaRPr/>
          </a:p>
        </p:txBody>
      </p:sp>
      <p:cxnSp>
        <p:nvCxnSpPr>
          <p:cNvPr id="280" name="Google Shape;280;p6"/>
          <p:cNvCxnSpPr/>
          <p:nvPr/>
        </p:nvCxnSpPr>
        <p:spPr>
          <a:xfrm>
            <a:off x="4142231" y="2624328"/>
            <a:ext cx="155448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81" name="Google Shape;281;p6"/>
          <p:cNvSpPr/>
          <p:nvPr/>
        </p:nvSpPr>
        <p:spPr>
          <a:xfrm>
            <a:off x="2423160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6"/>
          <p:cNvSpPr txBox="1"/>
          <p:nvPr/>
        </p:nvSpPr>
        <p:spPr>
          <a:xfrm>
            <a:off x="2560320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283" name="Google Shape;283;p6"/>
          <p:cNvSpPr txBox="1"/>
          <p:nvPr/>
        </p:nvSpPr>
        <p:spPr>
          <a:xfrm>
            <a:off x="2560320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Refused, or “can’t check that safely right now”</a:t>
            </a:r>
            <a:endParaRPr/>
          </a:p>
        </p:txBody>
      </p:sp>
      <p:sp>
        <p:nvSpPr>
          <p:cNvPr id="284" name="Google Shape;284;p6"/>
          <p:cNvSpPr/>
          <p:nvPr/>
        </p:nvSpPr>
        <p:spPr>
          <a:xfrm>
            <a:off x="4297679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6"/>
          <p:cNvSpPr/>
          <p:nvPr/>
        </p:nvSpPr>
        <p:spPr>
          <a:xfrm>
            <a:off x="446227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86" name="Google Shape;286;p6"/>
          <p:cNvSpPr txBox="1"/>
          <p:nvPr/>
        </p:nvSpPr>
        <p:spPr>
          <a:xfrm>
            <a:off x="4462271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Route</a:t>
            </a:r>
            <a:endParaRPr/>
          </a:p>
        </p:txBody>
      </p:sp>
      <p:sp>
        <p:nvSpPr>
          <p:cNvPr id="287" name="Google Shape;287;p6"/>
          <p:cNvSpPr txBox="1"/>
          <p:nvPr/>
        </p:nvSpPr>
        <p:spPr>
          <a:xfrm>
            <a:off x="4462271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Rules → examples → LLM</a:t>
            </a:r>
            <a:endParaRPr/>
          </a:p>
        </p:txBody>
      </p:sp>
      <p:cxnSp>
        <p:nvCxnSpPr>
          <p:cNvPr id="288" name="Google Shape;288;p6"/>
          <p:cNvCxnSpPr/>
          <p:nvPr/>
        </p:nvCxnSpPr>
        <p:spPr>
          <a:xfrm>
            <a:off x="6016751" y="2624328"/>
            <a:ext cx="155448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89" name="Google Shape;289;p6"/>
          <p:cNvSpPr/>
          <p:nvPr/>
        </p:nvSpPr>
        <p:spPr>
          <a:xfrm>
            <a:off x="4297679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6"/>
          <p:cNvSpPr txBox="1"/>
          <p:nvPr/>
        </p:nvSpPr>
        <p:spPr>
          <a:xfrm>
            <a:off x="4434840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291" name="Google Shape;291;p6"/>
          <p:cNvSpPr txBox="1"/>
          <p:nvPr/>
        </p:nvSpPr>
        <p:spPr>
          <a:xfrm>
            <a:off x="4434840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Clarifying question, never a dead end</a:t>
            </a:r>
            <a:endParaRPr/>
          </a:p>
        </p:txBody>
      </p:sp>
      <p:sp>
        <p:nvSpPr>
          <p:cNvPr id="292" name="Google Shape;292;p6"/>
          <p:cNvSpPr/>
          <p:nvPr/>
        </p:nvSpPr>
        <p:spPr>
          <a:xfrm>
            <a:off x="6172199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6"/>
          <p:cNvSpPr/>
          <p:nvPr/>
        </p:nvSpPr>
        <p:spPr>
          <a:xfrm>
            <a:off x="633679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94" name="Google Shape;294;p6"/>
          <p:cNvSpPr txBox="1"/>
          <p:nvPr/>
        </p:nvSpPr>
        <p:spPr>
          <a:xfrm>
            <a:off x="6336791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Handle</a:t>
            </a:r>
            <a:endParaRPr/>
          </a:p>
        </p:txBody>
      </p:sp>
      <p:sp>
        <p:nvSpPr>
          <p:cNvPr id="295" name="Google Shape;295;p6"/>
          <p:cNvSpPr txBox="1"/>
          <p:nvPr/>
        </p:nvSpPr>
        <p:spPr>
          <a:xfrm>
            <a:off x="6336791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RAG, order tools, handoff, conversation</a:t>
            </a:r>
            <a:endParaRPr/>
          </a:p>
        </p:txBody>
      </p:sp>
      <p:cxnSp>
        <p:nvCxnSpPr>
          <p:cNvPr id="296" name="Google Shape;296;p6"/>
          <p:cNvCxnSpPr/>
          <p:nvPr/>
        </p:nvCxnSpPr>
        <p:spPr>
          <a:xfrm>
            <a:off x="7891271" y="2624328"/>
            <a:ext cx="155448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7" name="Google Shape;297;p6"/>
          <p:cNvSpPr/>
          <p:nvPr/>
        </p:nvSpPr>
        <p:spPr>
          <a:xfrm>
            <a:off x="6172199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6"/>
          <p:cNvSpPr txBox="1"/>
          <p:nvPr/>
        </p:nvSpPr>
        <p:spPr>
          <a:xfrm>
            <a:off x="6309359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299" name="Google Shape;299;p6"/>
          <p:cNvSpPr txBox="1"/>
          <p:nvPr/>
        </p:nvSpPr>
        <p:spPr>
          <a:xfrm>
            <a:off x="6309359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Stopped “rather than guess”</a:t>
            </a:r>
            <a:endParaRPr/>
          </a:p>
        </p:txBody>
      </p:sp>
      <p:sp>
        <p:nvSpPr>
          <p:cNvPr id="300" name="Google Shape;300;p6"/>
          <p:cNvSpPr/>
          <p:nvPr/>
        </p:nvSpPr>
        <p:spPr>
          <a:xfrm>
            <a:off x="8046719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8211311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302" name="Google Shape;302;p6"/>
          <p:cNvSpPr txBox="1"/>
          <p:nvPr/>
        </p:nvSpPr>
        <p:spPr>
          <a:xfrm>
            <a:off x="8211311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Output guard</a:t>
            </a:r>
            <a:endParaRPr/>
          </a:p>
        </p:txBody>
      </p:sp>
      <p:sp>
        <p:nvSpPr>
          <p:cNvPr id="303" name="Google Shape;303;p6"/>
          <p:cNvSpPr txBox="1"/>
          <p:nvPr/>
        </p:nvSpPr>
        <p:spPr>
          <a:xfrm>
            <a:off x="8211311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Facts must come from tools or citations</a:t>
            </a:r>
            <a:endParaRPr/>
          </a:p>
        </p:txBody>
      </p:sp>
      <p:cxnSp>
        <p:nvCxnSpPr>
          <p:cNvPr id="304" name="Google Shape;304;p6"/>
          <p:cNvCxnSpPr/>
          <p:nvPr/>
        </p:nvCxnSpPr>
        <p:spPr>
          <a:xfrm>
            <a:off x="9765792" y="2624328"/>
            <a:ext cx="155447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05" name="Google Shape;305;p6"/>
          <p:cNvSpPr/>
          <p:nvPr/>
        </p:nvSpPr>
        <p:spPr>
          <a:xfrm>
            <a:off x="8046719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6"/>
          <p:cNvSpPr txBox="1"/>
          <p:nvPr/>
        </p:nvSpPr>
        <p:spPr>
          <a:xfrm>
            <a:off x="8183879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307" name="Google Shape;307;p6"/>
          <p:cNvSpPr txBox="1"/>
          <p:nvPr/>
        </p:nvSpPr>
        <p:spPr>
          <a:xfrm>
            <a:off x="8183879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Blocked: “couldn’t verify every detail”</a:t>
            </a:r>
            <a:endParaRPr/>
          </a:p>
        </p:txBody>
      </p:sp>
      <p:sp>
        <p:nvSpPr>
          <p:cNvPr id="308" name="Google Shape;308;p6"/>
          <p:cNvSpPr/>
          <p:nvPr/>
        </p:nvSpPr>
        <p:spPr>
          <a:xfrm>
            <a:off x="9921240" y="1691640"/>
            <a:ext cx="1719072" cy="1874519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6"/>
          <p:cNvSpPr/>
          <p:nvPr/>
        </p:nvSpPr>
        <p:spPr>
          <a:xfrm>
            <a:off x="10085832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sp>
        <p:nvSpPr>
          <p:cNvPr id="310" name="Google Shape;310;p6"/>
          <p:cNvSpPr txBox="1"/>
          <p:nvPr/>
        </p:nvSpPr>
        <p:spPr>
          <a:xfrm>
            <a:off x="10085832" y="233172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Remember</a:t>
            </a:r>
            <a:endParaRPr/>
          </a:p>
        </p:txBody>
      </p:sp>
      <p:sp>
        <p:nvSpPr>
          <p:cNvPr id="311" name="Google Shape;311;p6"/>
          <p:cNvSpPr txBox="1"/>
          <p:nvPr/>
        </p:nvSpPr>
        <p:spPr>
          <a:xfrm>
            <a:off x="10085832" y="269748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Every turn, refused ones included</a:t>
            </a:r>
            <a:endParaRPr/>
          </a:p>
        </p:txBody>
      </p:sp>
      <p:sp>
        <p:nvSpPr>
          <p:cNvPr id="312" name="Google Shape;312;p6"/>
          <p:cNvSpPr/>
          <p:nvPr/>
        </p:nvSpPr>
        <p:spPr>
          <a:xfrm>
            <a:off x="9921240" y="3749039"/>
            <a:ext cx="1719072" cy="11430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6"/>
          <p:cNvSpPr txBox="1"/>
          <p:nvPr/>
        </p:nvSpPr>
        <p:spPr>
          <a:xfrm>
            <a:off x="10058400" y="3840480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B54633"/>
                </a:solidFill>
                <a:latin typeface="Calibri"/>
                <a:ea typeface="Calibri"/>
                <a:cs typeface="Calibri"/>
                <a:sym typeface="Calibri"/>
              </a:rPr>
              <a:t>If it fails</a:t>
            </a:r>
            <a:endParaRPr/>
          </a:p>
        </p:txBody>
      </p:sp>
      <p:sp>
        <p:nvSpPr>
          <p:cNvPr id="314" name="Google Shape;314;p6"/>
          <p:cNvSpPr txBox="1"/>
          <p:nvPr/>
        </p:nvSpPr>
        <p:spPr>
          <a:xfrm>
            <a:off x="10058400" y="4087368"/>
            <a:ext cx="1463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Only verified slots ever reach an LLM</a:t>
            </a:r>
            <a:endParaRPr/>
          </a:p>
        </p:txBody>
      </p:sp>
      <p:sp>
        <p:nvSpPr>
          <p:cNvPr id="315" name="Google Shape;315;p6"/>
          <p:cNvSpPr/>
          <p:nvPr/>
        </p:nvSpPr>
        <p:spPr>
          <a:xfrm>
            <a:off x="548640" y="5120640"/>
            <a:ext cx="11109960" cy="868680"/>
          </a:xfrm>
          <a:prstGeom prst="roundRect">
            <a:avLst>
              <a:gd fmla="val 8000" name="adj"/>
            </a:avLst>
          </a:prstGeom>
          <a:solidFill>
            <a:srgbClr val="12333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6"/>
          <p:cNvSpPr/>
          <p:nvPr/>
        </p:nvSpPr>
        <p:spPr>
          <a:xfrm>
            <a:off x="777240" y="5376672"/>
            <a:ext cx="347472" cy="347472"/>
          </a:xfrm>
          <a:prstGeom prst="star4">
            <a:avLst>
              <a:gd fmla="val 12500" name="adj"/>
            </a:avLst>
          </a:prstGeom>
          <a:solidFill>
            <a:srgbClr val="E8A3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6"/>
          <p:cNvSpPr txBox="1"/>
          <p:nvPr/>
        </p:nvSpPr>
        <p:spPr>
          <a:xfrm>
            <a:off x="1325880" y="5193792"/>
            <a:ext cx="10149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Structural guarantee: the router and every agent run only after the input guard allows the message. Unrouted or unclear messages go to an agent with no retrieval and no tools.</a:t>
            </a:r>
            <a:endParaRPr/>
          </a:p>
        </p:txBody>
      </p:sp>
      <p:sp>
        <p:nvSpPr>
          <p:cNvPr id="318" name="Google Shape;318;p6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319" name="Google Shape;319;p6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7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Hybrid routing: the LLM only when needed</a:t>
            </a:r>
            <a:endParaRPr/>
          </a:p>
        </p:txBody>
      </p:sp>
      <p:sp>
        <p:nvSpPr>
          <p:cNvPr id="325" name="Google Shape;325;p7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Share of the 110 held-out messages each tier decided in the live run</a:t>
            </a:r>
            <a:endParaRPr/>
          </a:p>
        </p:txBody>
      </p:sp>
      <p:sp>
        <p:nvSpPr>
          <p:cNvPr id="326" name="Google Shape;326;p7"/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327" name="Google Shape;327;p7"/>
          <p:cNvSpPr txBox="1"/>
          <p:nvPr/>
        </p:nvSpPr>
        <p:spPr>
          <a:xfrm>
            <a:off x="1097280" y="173736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Rules</a:t>
            </a:r>
            <a:endParaRPr/>
          </a:p>
        </p:txBody>
      </p:sp>
      <p:sp>
        <p:nvSpPr>
          <p:cNvPr id="328" name="Google Shape;328;p7"/>
          <p:cNvSpPr txBox="1"/>
          <p:nvPr/>
        </p:nvSpPr>
        <p:spPr>
          <a:xfrm>
            <a:off x="1097280" y="2084831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order ID + operation, verified follow-up, smalltalk, human request, gibberish</a:t>
            </a:r>
            <a:endParaRPr/>
          </a:p>
        </p:txBody>
      </p:sp>
      <p:sp>
        <p:nvSpPr>
          <p:cNvPr id="329" name="Google Shape;329;p7"/>
          <p:cNvSpPr/>
          <p:nvPr/>
        </p:nvSpPr>
        <p:spPr>
          <a:xfrm>
            <a:off x="4572000" y="1847088"/>
            <a:ext cx="4023360" cy="384048"/>
          </a:xfrm>
          <a:prstGeom prst="roundRect">
            <a:avLst>
              <a:gd fmla="val 20000" name="adj"/>
            </a:avLst>
          </a:prstGeom>
          <a:solidFill>
            <a:srgbClr val="DDE7E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4572000" y="1847088"/>
            <a:ext cx="1975104" cy="384048"/>
          </a:xfrm>
          <a:prstGeom prst="roundRect">
            <a:avLst>
              <a:gd fmla="val 20000" name="adj"/>
            </a:avLst>
          </a:prstGeom>
          <a:solidFill>
            <a:srgbClr val="1F7A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 txBox="1"/>
          <p:nvPr/>
        </p:nvSpPr>
        <p:spPr>
          <a:xfrm>
            <a:off x="4572000" y="230428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54 of 110</a:t>
            </a:r>
            <a:endParaRPr/>
          </a:p>
        </p:txBody>
      </p:sp>
      <p:sp>
        <p:nvSpPr>
          <p:cNvPr id="332" name="Google Shape;332;p7"/>
          <p:cNvSpPr txBox="1"/>
          <p:nvPr/>
        </p:nvSpPr>
        <p:spPr>
          <a:xfrm>
            <a:off x="6858000" y="230428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~0 ms</a:t>
            </a:r>
            <a:endParaRPr/>
          </a:p>
        </p:txBody>
      </p:sp>
      <p:sp>
        <p:nvSpPr>
          <p:cNvPr id="333" name="Google Shape;333;p7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334" name="Google Shape;334;p7"/>
          <p:cNvSpPr txBox="1"/>
          <p:nvPr/>
        </p:nvSpPr>
        <p:spPr>
          <a:xfrm>
            <a:off x="1097280" y="278892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Labeled examples</a:t>
            </a:r>
            <a:endParaRPr/>
          </a:p>
        </p:txBody>
      </p:sp>
      <p:sp>
        <p:nvSpPr>
          <p:cNvPr id="335" name="Google Shape;335;p7"/>
          <p:cNvSpPr txBox="1"/>
          <p:nvPr/>
        </p:nvSpPr>
        <p:spPr>
          <a:xfrm>
            <a:off x="1097280" y="3136391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nearest examples on MiniLM; answers only with a clear margin</a:t>
            </a:r>
            <a:endParaRPr/>
          </a:p>
        </p:txBody>
      </p:sp>
      <p:sp>
        <p:nvSpPr>
          <p:cNvPr id="336" name="Google Shape;336;p7"/>
          <p:cNvSpPr/>
          <p:nvPr/>
        </p:nvSpPr>
        <p:spPr>
          <a:xfrm>
            <a:off x="4572000" y="2898648"/>
            <a:ext cx="4023360" cy="384048"/>
          </a:xfrm>
          <a:prstGeom prst="roundRect">
            <a:avLst>
              <a:gd fmla="val 20000" name="adj"/>
            </a:avLst>
          </a:prstGeom>
          <a:solidFill>
            <a:srgbClr val="DDE7E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7"/>
          <p:cNvSpPr/>
          <p:nvPr/>
        </p:nvSpPr>
        <p:spPr>
          <a:xfrm>
            <a:off x="4572000" y="2898648"/>
            <a:ext cx="1060704" cy="384048"/>
          </a:xfrm>
          <a:prstGeom prst="roundRect">
            <a:avLst>
              <a:gd fmla="val 20000" name="adj"/>
            </a:avLst>
          </a:prstGeom>
          <a:solidFill>
            <a:srgbClr val="1F7A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4572000" y="33558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29 of 110</a:t>
            </a:r>
            <a:endParaRPr/>
          </a:p>
        </p:txBody>
      </p:sp>
      <p:sp>
        <p:nvSpPr>
          <p:cNvPr id="339" name="Google Shape;339;p7"/>
          <p:cNvSpPr txBox="1"/>
          <p:nvPr/>
        </p:nvSpPr>
        <p:spPr>
          <a:xfrm>
            <a:off x="6858000" y="335584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~6 ms</a:t>
            </a:r>
            <a:endParaRPr/>
          </a:p>
        </p:txBody>
      </p:sp>
      <p:sp>
        <p:nvSpPr>
          <p:cNvPr id="340" name="Google Shape;340;p7"/>
          <p:cNvSpPr/>
          <p:nvPr/>
        </p:nvSpPr>
        <p:spPr>
          <a:xfrm>
            <a:off x="548640" y="39319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341" name="Google Shape;341;p7"/>
          <p:cNvSpPr txBox="1"/>
          <p:nvPr/>
        </p:nvSpPr>
        <p:spPr>
          <a:xfrm>
            <a:off x="1097280" y="3840479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Groq LLM</a:t>
            </a:r>
            <a:endParaRPr/>
          </a:p>
        </p:txBody>
      </p:sp>
      <p:sp>
        <p:nvSpPr>
          <p:cNvPr id="342" name="Google Shape;342;p7"/>
          <p:cNvSpPr txBox="1"/>
          <p:nvPr/>
        </p:nvSpPr>
        <p:spPr>
          <a:xfrm>
            <a:off x="1097280" y="4187951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strict schema with all six intents; validated locally</a:t>
            </a:r>
            <a:endParaRPr/>
          </a:p>
        </p:txBody>
      </p:sp>
      <p:sp>
        <p:nvSpPr>
          <p:cNvPr id="343" name="Google Shape;343;p7"/>
          <p:cNvSpPr/>
          <p:nvPr/>
        </p:nvSpPr>
        <p:spPr>
          <a:xfrm>
            <a:off x="4572000" y="3950207"/>
            <a:ext cx="4023360" cy="384048"/>
          </a:xfrm>
          <a:prstGeom prst="roundRect">
            <a:avLst>
              <a:gd fmla="val 20000" name="adj"/>
            </a:avLst>
          </a:prstGeom>
          <a:solidFill>
            <a:srgbClr val="DDE7E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4572000" y="3950207"/>
            <a:ext cx="987552" cy="384048"/>
          </a:xfrm>
          <a:prstGeom prst="roundRect">
            <a:avLst>
              <a:gd fmla="val 20000" name="adj"/>
            </a:avLst>
          </a:prstGeom>
          <a:solidFill>
            <a:srgbClr val="1F7A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 txBox="1"/>
          <p:nvPr/>
        </p:nvSpPr>
        <p:spPr>
          <a:xfrm>
            <a:off x="4572000" y="4407407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27 of 110</a:t>
            </a:r>
            <a:endParaRPr/>
          </a:p>
        </p:txBody>
      </p:sp>
      <p:sp>
        <p:nvSpPr>
          <p:cNvPr id="346" name="Google Shape;346;p7"/>
          <p:cNvSpPr txBox="1"/>
          <p:nvPr/>
        </p:nvSpPr>
        <p:spPr>
          <a:xfrm>
            <a:off x="6858000" y="4407407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~0.6 s</a:t>
            </a:r>
            <a:endParaRPr/>
          </a:p>
        </p:txBody>
      </p:sp>
      <p:sp>
        <p:nvSpPr>
          <p:cNvPr id="347" name="Google Shape;347;p7"/>
          <p:cNvSpPr/>
          <p:nvPr/>
        </p:nvSpPr>
        <p:spPr>
          <a:xfrm>
            <a:off x="548640" y="498347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48" name="Google Shape;348;p7"/>
          <p:cNvSpPr txBox="1"/>
          <p:nvPr/>
        </p:nvSpPr>
        <p:spPr>
          <a:xfrm>
            <a:off x="1097280" y="489204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Clarify</a:t>
            </a:r>
            <a:endParaRPr/>
          </a:p>
        </p:txBody>
      </p:sp>
      <p:sp>
        <p:nvSpPr>
          <p:cNvPr id="349" name="Google Shape;349;p7"/>
          <p:cNvSpPr txBox="1"/>
          <p:nvPr/>
        </p:nvSpPr>
        <p:spPr>
          <a:xfrm>
            <a:off x="1097280" y="5239512"/>
            <a:ext cx="3291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 confident route: a clarifying question, not a refusal</a:t>
            </a:r>
            <a:endParaRPr/>
          </a:p>
        </p:txBody>
      </p:sp>
      <p:sp>
        <p:nvSpPr>
          <p:cNvPr id="350" name="Google Shape;350;p7"/>
          <p:cNvSpPr/>
          <p:nvPr/>
        </p:nvSpPr>
        <p:spPr>
          <a:xfrm>
            <a:off x="4572000" y="5001768"/>
            <a:ext cx="4023360" cy="384048"/>
          </a:xfrm>
          <a:prstGeom prst="roundRect">
            <a:avLst>
              <a:gd fmla="val 20000" name="adj"/>
            </a:avLst>
          </a:prstGeom>
          <a:solidFill>
            <a:srgbClr val="DDE7E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7"/>
          <p:cNvSpPr txBox="1"/>
          <p:nvPr/>
        </p:nvSpPr>
        <p:spPr>
          <a:xfrm>
            <a:off x="4572000" y="545896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0 of 110</a:t>
            </a:r>
            <a:endParaRPr/>
          </a:p>
        </p:txBody>
      </p:sp>
      <p:sp>
        <p:nvSpPr>
          <p:cNvPr id="352" name="Google Shape;352;p7"/>
          <p:cNvSpPr txBox="1"/>
          <p:nvPr/>
        </p:nvSpPr>
        <p:spPr>
          <a:xfrm>
            <a:off x="6858000" y="545896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0 ms</a:t>
            </a:r>
            <a:endParaRPr/>
          </a:p>
        </p:txBody>
      </p:sp>
      <p:sp>
        <p:nvSpPr>
          <p:cNvPr id="353" name="Google Shape;353;p7"/>
          <p:cNvSpPr/>
          <p:nvPr/>
        </p:nvSpPr>
        <p:spPr>
          <a:xfrm>
            <a:off x="9006840" y="1691640"/>
            <a:ext cx="2651760" cy="416052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7"/>
          <p:cNvSpPr txBox="1"/>
          <p:nvPr/>
        </p:nvSpPr>
        <p:spPr>
          <a:xfrm>
            <a:off x="9235440" y="1828800"/>
            <a:ext cx="2286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Why hybrid</a:t>
            </a:r>
            <a:endParaRPr/>
          </a:p>
        </p:txBody>
      </p:sp>
      <p:sp>
        <p:nvSpPr>
          <p:cNvPr id="355" name="Google Shape;355;p7"/>
          <p:cNvSpPr txBox="1"/>
          <p:nvPr/>
        </p:nvSpPr>
        <p:spPr>
          <a:xfrm>
            <a:off x="9235440" y="2240280"/>
            <a:ext cx="228600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Rules are instant and deterministic for unambiguous requests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Labeled examples cover paraphrases in milliseconds, with no API call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The LLM handles Hinglish, mixed and novel phrasing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Thresholds come from leave-one-out on 137 training examples, never the test set</a:t>
            </a:r>
            <a:endParaRPr/>
          </a:p>
        </p:txBody>
      </p:sp>
      <p:sp>
        <p:nvSpPr>
          <p:cNvPr id="356" name="Google Shape;356;p7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357" name="Google Shape;357;p7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8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Routing results on 110 held-out messages</a:t>
            </a:r>
            <a:endParaRPr/>
          </a:p>
        </p:txBody>
      </p:sp>
      <p:sp>
        <p:nvSpPr>
          <p:cNvPr id="363" name="Google Shape;363;p8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Live run with Groq openai/gpt-oss-20b, final configuration</a:t>
            </a:r>
            <a:endParaRPr/>
          </a:p>
        </p:txBody>
      </p:sp>
      <p:graphicFrame>
        <p:nvGraphicFramePr>
          <p:cNvPr id="364" name="Google Shape;364;p8"/>
          <p:cNvGraphicFramePr/>
          <p:nvPr/>
        </p:nvGraphicFramePr>
        <p:xfrm>
          <a:off x="548640" y="1600200"/>
          <a:ext cx="7772400" cy="4526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65" name="Google Shape;365;p8"/>
          <p:cNvSpPr/>
          <p:nvPr/>
        </p:nvSpPr>
        <p:spPr>
          <a:xfrm>
            <a:off x="8641080" y="1691640"/>
            <a:ext cx="3017520" cy="96012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 txBox="1"/>
          <p:nvPr/>
        </p:nvSpPr>
        <p:spPr>
          <a:xfrm>
            <a:off x="8869680" y="178308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95.5%</a:t>
            </a:r>
            <a:endParaRPr/>
          </a:p>
        </p:txBody>
      </p:sp>
      <p:sp>
        <p:nvSpPr>
          <p:cNvPr id="367" name="Google Shape;367;p8"/>
          <p:cNvSpPr txBox="1"/>
          <p:nvPr/>
        </p:nvSpPr>
        <p:spPr>
          <a:xfrm>
            <a:off x="8869680" y="2258568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strict accuracy</a:t>
            </a:r>
            <a:endParaRPr/>
          </a:p>
        </p:txBody>
      </p:sp>
      <p:sp>
        <p:nvSpPr>
          <p:cNvPr id="368" name="Google Shape;368;p8"/>
          <p:cNvSpPr/>
          <p:nvPr/>
        </p:nvSpPr>
        <p:spPr>
          <a:xfrm>
            <a:off x="8641080" y="2788920"/>
            <a:ext cx="3017520" cy="96012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8"/>
          <p:cNvSpPr txBox="1"/>
          <p:nvPr/>
        </p:nvSpPr>
        <p:spPr>
          <a:xfrm>
            <a:off x="8869680" y="288036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99.1%</a:t>
            </a:r>
            <a:endParaRPr/>
          </a:p>
        </p:txBody>
      </p:sp>
      <p:sp>
        <p:nvSpPr>
          <p:cNvPr id="370" name="Google Shape;370;p8"/>
          <p:cNvSpPr txBox="1"/>
          <p:nvPr/>
        </p:nvSpPr>
        <p:spPr>
          <a:xfrm>
            <a:off x="8869680" y="3355848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outcome the customer sees</a:t>
            </a:r>
            <a:endParaRPr/>
          </a:p>
        </p:txBody>
      </p:sp>
      <p:sp>
        <p:nvSpPr>
          <p:cNvPr id="371" name="Google Shape;371;p8"/>
          <p:cNvSpPr/>
          <p:nvPr/>
        </p:nvSpPr>
        <p:spPr>
          <a:xfrm>
            <a:off x="8641080" y="3886200"/>
            <a:ext cx="3017520" cy="96012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8869680" y="3977639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0.70 s</a:t>
            </a:r>
            <a:endParaRPr/>
          </a:p>
        </p:txBody>
      </p:sp>
      <p:sp>
        <p:nvSpPr>
          <p:cNvPr id="373" name="Google Shape;373;p8"/>
          <p:cNvSpPr txBox="1"/>
          <p:nvPr/>
        </p:nvSpPr>
        <p:spPr>
          <a:xfrm>
            <a:off x="8869680" y="4453128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routing p95 latency</a:t>
            </a:r>
            <a:endParaRPr/>
          </a:p>
        </p:txBody>
      </p:sp>
      <p:sp>
        <p:nvSpPr>
          <p:cNvPr id="374" name="Google Shape;374;p8"/>
          <p:cNvSpPr/>
          <p:nvPr/>
        </p:nvSpPr>
        <p:spPr>
          <a:xfrm>
            <a:off x="8641080" y="4983479"/>
            <a:ext cx="3017520" cy="96012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8869680" y="5074919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/>
          </a:p>
        </p:txBody>
      </p:sp>
      <p:sp>
        <p:nvSpPr>
          <p:cNvPr id="376" name="Google Shape;376;p8"/>
          <p:cNvSpPr txBox="1"/>
          <p:nvPr/>
        </p:nvSpPr>
        <p:spPr>
          <a:xfrm>
            <a:off x="8869680" y="5550407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false escalations to a human</a:t>
            </a:r>
            <a:endParaRPr/>
          </a:p>
        </p:txBody>
      </p:sp>
      <p:sp>
        <p:nvSpPr>
          <p:cNvPr id="377" name="Google Shape;377;p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378" name="Google Shape;378;p8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9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Retrieval: fuse meaning and keywords, gate for recall</a:t>
            </a:r>
            <a:endParaRPr/>
          </a:p>
        </p:txBody>
      </p:sp>
      <p:sp>
        <p:nvSpPr>
          <p:cNvPr id="384" name="Google Shape;384;p9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Five configurations compared: tuned on a dev set, scored on 45 held-out questions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548640" y="1645920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Query</a:t>
            </a:r>
            <a:endParaRPr/>
          </a:p>
        </p:txBody>
      </p:sp>
      <p:cxnSp>
        <p:nvCxnSpPr>
          <p:cNvPr id="386" name="Google Shape;386;p9"/>
          <p:cNvCxnSpPr/>
          <p:nvPr/>
        </p:nvCxnSpPr>
        <p:spPr>
          <a:xfrm>
            <a:off x="2194560" y="2249424"/>
            <a:ext cx="0" cy="14630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7" name="Google Shape;387;p9"/>
          <p:cNvSpPr/>
          <p:nvPr/>
        </p:nvSpPr>
        <p:spPr>
          <a:xfrm>
            <a:off x="548640" y="2395728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e5 dense  +  BM25 keywords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multilingual paraphrase · exact names</a:t>
            </a:r>
            <a:endParaRPr/>
          </a:p>
        </p:txBody>
      </p:sp>
      <p:cxnSp>
        <p:nvCxnSpPr>
          <p:cNvPr id="388" name="Google Shape;388;p9"/>
          <p:cNvCxnSpPr/>
          <p:nvPr/>
        </p:nvCxnSpPr>
        <p:spPr>
          <a:xfrm>
            <a:off x="2194560" y="2999232"/>
            <a:ext cx="0" cy="14630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89" name="Google Shape;389;p9"/>
          <p:cNvSpPr/>
          <p:nvPr/>
        </p:nvSpPr>
        <p:spPr>
          <a:xfrm>
            <a:off x="548640" y="3145536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Reciprocal-rank fusion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 score-scale mixing</a:t>
            </a:r>
            <a:endParaRPr/>
          </a:p>
        </p:txBody>
      </p:sp>
      <p:cxnSp>
        <p:nvCxnSpPr>
          <p:cNvPr id="390" name="Google Shape;390;p9"/>
          <p:cNvCxnSpPr/>
          <p:nvPr/>
        </p:nvCxnSpPr>
        <p:spPr>
          <a:xfrm>
            <a:off x="2194560" y="3749039"/>
            <a:ext cx="0" cy="146305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1" name="Google Shape;391;p9"/>
          <p:cNvSpPr/>
          <p:nvPr/>
        </p:nvSpPr>
        <p:spPr>
          <a:xfrm>
            <a:off x="548640" y="3895344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Gate on best candidate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tuned for recall</a:t>
            </a:r>
            <a:endParaRPr/>
          </a:p>
        </p:txBody>
      </p:sp>
      <p:cxnSp>
        <p:nvCxnSpPr>
          <p:cNvPr id="392" name="Google Shape;392;p9"/>
          <p:cNvCxnSpPr/>
          <p:nvPr/>
        </p:nvCxnSpPr>
        <p:spPr>
          <a:xfrm>
            <a:off x="2194560" y="4498848"/>
            <a:ext cx="0" cy="14630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3" name="Google Shape;393;p9"/>
          <p:cNvSpPr/>
          <p:nvPr/>
        </p:nvSpPr>
        <p:spPr>
          <a:xfrm>
            <a:off x="548640" y="4645152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Answerer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declines if evidence is insufficient</a:t>
            </a:r>
            <a:endParaRPr/>
          </a:p>
        </p:txBody>
      </p:sp>
      <p:cxnSp>
        <p:nvCxnSpPr>
          <p:cNvPr id="394" name="Google Shape;394;p9"/>
          <p:cNvCxnSpPr/>
          <p:nvPr/>
        </p:nvCxnSpPr>
        <p:spPr>
          <a:xfrm>
            <a:off x="2194560" y="5248656"/>
            <a:ext cx="0" cy="146304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95" name="Google Shape;395;p9"/>
          <p:cNvSpPr/>
          <p:nvPr/>
        </p:nvSpPr>
        <p:spPr>
          <a:xfrm>
            <a:off x="548640" y="5394959"/>
            <a:ext cx="3291840" cy="603504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Output claim guard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dates, amounts, IDs</a:t>
            </a:r>
            <a:endParaRPr/>
          </a:p>
        </p:txBody>
      </p:sp>
      <p:graphicFrame>
        <p:nvGraphicFramePr>
          <p:cNvPr id="396" name="Google Shape;396;p9"/>
          <p:cNvGraphicFramePr/>
          <p:nvPr/>
        </p:nvGraphicFramePr>
        <p:xfrm>
          <a:off x="4206240" y="1600200"/>
          <a:ext cx="7498079" cy="4526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397" name="Google Shape;397;p9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398" name="Google Shape;398;p9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Grounded answers: two gates and a claim check</a:t>
            </a:r>
            <a:endParaRPr/>
          </a:p>
        </p:txBody>
      </p:sp>
      <p:sp>
        <p:nvSpPr>
          <p:cNvPr id="404" name="Google Shape;404;p10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Live end-to-end on 45 held-out questions: retrieval, Groq answerer, output guard</a:t>
            </a:r>
            <a:endParaRPr/>
          </a:p>
        </p:txBody>
      </p:sp>
      <p:sp>
        <p:nvSpPr>
          <p:cNvPr id="405" name="Google Shape;405;p10"/>
          <p:cNvSpPr txBox="1"/>
          <p:nvPr/>
        </p:nvSpPr>
        <p:spPr>
          <a:xfrm>
            <a:off x="548640" y="173736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93.8%</a:t>
            </a:r>
            <a:endParaRPr/>
          </a:p>
        </p:txBody>
      </p:sp>
      <p:sp>
        <p:nvSpPr>
          <p:cNvPr id="406" name="Google Shape;406;p10"/>
          <p:cNvSpPr txBox="1"/>
          <p:nvPr/>
        </p:nvSpPr>
        <p:spPr>
          <a:xfrm>
            <a:off x="2788920" y="184708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answerable questions answered</a:t>
            </a:r>
            <a:endParaRPr/>
          </a:p>
        </p:txBody>
      </p:sp>
      <p:sp>
        <p:nvSpPr>
          <p:cNvPr id="407" name="Google Shape;407;p10"/>
          <p:cNvSpPr txBox="1"/>
          <p:nvPr/>
        </p:nvSpPr>
        <p:spPr>
          <a:xfrm>
            <a:off x="548640" y="278892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90.6%</a:t>
            </a:r>
            <a:endParaRPr/>
          </a:p>
        </p:txBody>
      </p:sp>
      <p:sp>
        <p:nvSpPr>
          <p:cNvPr id="408" name="Google Shape;408;p10"/>
          <p:cNvSpPr txBox="1"/>
          <p:nvPr/>
        </p:nvSpPr>
        <p:spPr>
          <a:xfrm>
            <a:off x="2788920" y="289864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answers citing an expected document</a:t>
            </a:r>
            <a:endParaRPr/>
          </a:p>
        </p:txBody>
      </p:sp>
      <p:sp>
        <p:nvSpPr>
          <p:cNvPr id="409" name="Google Shape;409;p10"/>
          <p:cNvSpPr txBox="1"/>
          <p:nvPr/>
        </p:nvSpPr>
        <p:spPr>
          <a:xfrm>
            <a:off x="548640" y="3840479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13 / 13</a:t>
            </a:r>
            <a:endParaRPr/>
          </a:p>
        </p:txBody>
      </p:sp>
      <p:sp>
        <p:nvSpPr>
          <p:cNvPr id="410" name="Google Shape;410;p10"/>
          <p:cNvSpPr txBox="1"/>
          <p:nvPr/>
        </p:nvSpPr>
        <p:spPr>
          <a:xfrm>
            <a:off x="2788920" y="3950207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unanswerable near-misses declined</a:t>
            </a:r>
            <a:endParaRPr/>
          </a:p>
        </p:txBody>
      </p:sp>
      <p:sp>
        <p:nvSpPr>
          <p:cNvPr id="411" name="Google Shape;411;p10"/>
          <p:cNvSpPr txBox="1"/>
          <p:nvPr/>
        </p:nvSpPr>
        <p:spPr>
          <a:xfrm>
            <a:off x="548640" y="4892040"/>
            <a:ext cx="2194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0</a:t>
            </a:r>
            <a:endParaRPr/>
          </a:p>
        </p:txBody>
      </p:sp>
      <p:sp>
        <p:nvSpPr>
          <p:cNvPr id="412" name="Google Shape;412;p10"/>
          <p:cNvSpPr txBox="1"/>
          <p:nvPr/>
        </p:nvSpPr>
        <p:spPr>
          <a:xfrm>
            <a:off x="2788920" y="5001768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handler errors</a:t>
            </a: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5943600" y="1691640"/>
            <a:ext cx="5715000" cy="434340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6172200" y="1874519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$</a:t>
            </a:r>
            <a:endParaRPr/>
          </a:p>
        </p:txBody>
      </p:sp>
      <p:sp>
        <p:nvSpPr>
          <p:cNvPr id="415" name="Google Shape;415;p10"/>
          <p:cNvSpPr txBox="1"/>
          <p:nvPr/>
        </p:nvSpPr>
        <p:spPr>
          <a:xfrm>
            <a:off x="6720840" y="1901952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Refunds: tool facts vs claim guard</a:t>
            </a:r>
            <a:endParaRPr/>
          </a:p>
        </p:txBody>
      </p:sp>
      <p:sp>
        <p:nvSpPr>
          <p:cNvPr id="416" name="Google Shape;416;p10"/>
          <p:cNvSpPr txBox="1"/>
          <p:nvPr/>
        </p:nvSpPr>
        <p:spPr>
          <a:xfrm>
            <a:off x="6217920" y="2468880"/>
            <a:ext cx="52120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400"/>
              <a:buFont typeface="Arial"/>
              <a:buChar char="•"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Return eligibility is policy evidence, never refund approval</a:t>
            </a:r>
            <a:endParaRPr/>
          </a:p>
          <a:p>
            <a:pPr indent="-201168" lvl="0" marL="201168" marR="0" rtl="0" algn="l">
              <a:spcBef>
                <a:spcPts val="800"/>
              </a:spcBef>
              <a:spcAft>
                <a:spcPts val="0"/>
              </a:spcAft>
              <a:buClr>
                <a:srgbClr val="12333B"/>
              </a:buClr>
              <a:buSzPts val="1400"/>
              <a:buFont typeface="Arial"/>
              <a:buChar char="•"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Only an amount and date confirmed by the order record can appear</a:t>
            </a:r>
            <a:endParaRPr/>
          </a:p>
          <a:p>
            <a:pPr indent="-201168" lvl="0" marL="201168" marR="0" rtl="0" algn="l">
              <a:spcBef>
                <a:spcPts val="800"/>
              </a:spcBef>
              <a:spcAft>
                <a:spcPts val="0"/>
              </a:spcAft>
              <a:buClr>
                <a:srgbClr val="12333B"/>
              </a:buClr>
              <a:buSzPts val="1400"/>
              <a:buFont typeface="Arial"/>
              <a:buChar char="•"/>
            </a:pPr>
            <a:r>
              <a:rPr b="0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“Refund my amount” gets: I can’t issue refunds in chat, the verified facts, and a route to a human</a:t>
            </a:r>
            <a:endParaRPr/>
          </a:p>
        </p:txBody>
      </p:sp>
      <p:sp>
        <p:nvSpPr>
          <p:cNvPr id="417" name="Google Shape;417;p10"/>
          <p:cNvSpPr/>
          <p:nvPr/>
        </p:nvSpPr>
        <p:spPr>
          <a:xfrm>
            <a:off x="6217920" y="4526280"/>
            <a:ext cx="5212080" cy="11887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 txBox="1"/>
          <p:nvPr/>
        </p:nvSpPr>
        <p:spPr>
          <a:xfrm>
            <a:off x="6400800" y="461772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F7A80"/>
                </a:solidFill>
                <a:latin typeface="Calibri"/>
                <a:ea typeface="Calibri"/>
                <a:cs typeface="Calibri"/>
                <a:sym typeface="Calibri"/>
              </a:rPr>
              <a:t>Live probe</a:t>
            </a:r>
            <a:endParaRPr/>
          </a:p>
        </p:txBody>
      </p:sp>
      <p:sp>
        <p:nvSpPr>
          <p:cNvPr id="419" name="Google Shape;419;p10"/>
          <p:cNvSpPr txBox="1"/>
          <p:nvPr/>
        </p:nvSpPr>
        <p:spPr>
          <a:xfrm>
            <a:off x="6400800" y="4873752"/>
            <a:ext cx="4846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Customer: </a:t>
            </a: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my refund for NS-26-3005-6 was $500 right? confirm it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Assistant: </a:t>
            </a:r>
            <a:r>
              <a:rPr b="0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… A refund of $120.00 was issued on October 12, 2026.</a:t>
            </a:r>
            <a:endParaRPr/>
          </a:p>
        </p:txBody>
      </p:sp>
      <p:sp>
        <p:nvSpPr>
          <p:cNvPr id="420" name="Google Shape;420;p10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421" name="Google Shape;421;p10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Order agent: the model chooses, the application decides</a:t>
            </a:r>
            <a:endParaRPr/>
          </a:p>
        </p:txBody>
      </p:sp>
      <p:sp>
        <p:nvSpPr>
          <p:cNvPr id="427" name="Google Shape;427;p11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Groq native function calling; execution and authorization stay in code</a:t>
            </a:r>
            <a:endParaRPr/>
          </a:p>
        </p:txBody>
      </p:sp>
      <p:sp>
        <p:nvSpPr>
          <p:cNvPr id="428" name="Google Shape;428;p11"/>
          <p:cNvSpPr/>
          <p:nvPr/>
        </p:nvSpPr>
        <p:spPr>
          <a:xfrm>
            <a:off x="548640" y="1783080"/>
            <a:ext cx="1965960" cy="12344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Find the order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ID in the message · verified memory · list_orders</a:t>
            </a:r>
            <a:endParaRPr/>
          </a:p>
        </p:txBody>
      </p:sp>
      <p:cxnSp>
        <p:nvCxnSpPr>
          <p:cNvPr id="429" name="Google Shape;429;p11"/>
          <p:cNvCxnSpPr/>
          <p:nvPr/>
        </p:nvCxnSpPr>
        <p:spPr>
          <a:xfrm>
            <a:off x="2514600" y="239572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0" name="Google Shape;430;p11"/>
          <p:cNvSpPr/>
          <p:nvPr/>
        </p:nvSpPr>
        <p:spPr>
          <a:xfrm>
            <a:off x="2788920" y="1783080"/>
            <a:ext cx="1965960" cy="12344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Model picks one tool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strict schema, one allow-listed call</a:t>
            </a:r>
            <a:endParaRPr/>
          </a:p>
        </p:txBody>
      </p:sp>
      <p:cxnSp>
        <p:nvCxnSpPr>
          <p:cNvPr id="431" name="Google Shape;431;p11"/>
          <p:cNvCxnSpPr/>
          <p:nvPr/>
        </p:nvCxnSpPr>
        <p:spPr>
          <a:xfrm>
            <a:off x="4754880" y="239572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2" name="Google Shape;432;p11"/>
          <p:cNvSpPr/>
          <p:nvPr/>
        </p:nvSpPr>
        <p:spPr>
          <a:xfrm>
            <a:off x="5029200" y="1783080"/>
            <a:ext cx="1965960" cy="12344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Validate locally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ID must match the message; session is server-side</a:t>
            </a:r>
            <a:endParaRPr/>
          </a:p>
        </p:txBody>
      </p:sp>
      <p:cxnSp>
        <p:nvCxnSpPr>
          <p:cNvPr id="433" name="Google Shape;433;p11"/>
          <p:cNvCxnSpPr/>
          <p:nvPr/>
        </p:nvCxnSpPr>
        <p:spPr>
          <a:xfrm>
            <a:off x="6995160" y="239572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4" name="Google Shape;434;p11"/>
          <p:cNvSpPr/>
          <p:nvPr/>
        </p:nvSpPr>
        <p:spPr>
          <a:xfrm>
            <a:off x="7269480" y="1783080"/>
            <a:ext cx="1965960" cy="12344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Run read-only tool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ownership checked against the session</a:t>
            </a:r>
            <a:endParaRPr/>
          </a:p>
        </p:txBody>
      </p:sp>
      <p:cxnSp>
        <p:nvCxnSpPr>
          <p:cNvPr id="435" name="Google Shape;435;p11"/>
          <p:cNvCxnSpPr/>
          <p:nvPr/>
        </p:nvCxnSpPr>
        <p:spPr>
          <a:xfrm>
            <a:off x="9235440" y="2395728"/>
            <a:ext cx="27432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36" name="Google Shape;436;p11"/>
          <p:cNvSpPr/>
          <p:nvPr/>
        </p:nvSpPr>
        <p:spPr>
          <a:xfrm>
            <a:off x="9509760" y="1783080"/>
            <a:ext cx="1965960" cy="12344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Reply plainly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verified dates; no internal codes</a:t>
            </a:r>
            <a:endParaRPr/>
          </a:p>
        </p:txBody>
      </p:sp>
      <p:sp>
        <p:nvSpPr>
          <p:cNvPr id="437" name="Google Shape;437;p11"/>
          <p:cNvSpPr/>
          <p:nvPr/>
        </p:nvSpPr>
        <p:spPr>
          <a:xfrm>
            <a:off x="548640" y="3429000"/>
            <a:ext cx="3520440" cy="233172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1"/>
          <p:cNvSpPr/>
          <p:nvPr/>
        </p:nvSpPr>
        <p:spPr>
          <a:xfrm>
            <a:off x="777240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439" name="Google Shape;439;p11"/>
          <p:cNvSpPr txBox="1"/>
          <p:nvPr/>
        </p:nvSpPr>
        <p:spPr>
          <a:xfrm>
            <a:off x="1280160" y="3639312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Why function calling, not ReAct</a:t>
            </a:r>
            <a:endParaRPr/>
          </a:p>
        </p:txBody>
      </p:sp>
      <p:sp>
        <p:nvSpPr>
          <p:cNvPr id="440" name="Google Shape;440;p11"/>
          <p:cNvSpPr txBox="1"/>
          <p:nvPr/>
        </p:nvSpPr>
        <p:spPr>
          <a:xfrm>
            <a:off x="822959" y="4297680"/>
            <a:ext cx="30175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Two bounded read-only operations need one tool choice, not an open-ended loop with its own termination and retry problems.</a:t>
            </a:r>
            <a:endParaRPr/>
          </a:p>
        </p:txBody>
      </p:sp>
      <p:sp>
        <p:nvSpPr>
          <p:cNvPr id="441" name="Google Shape;441;p11"/>
          <p:cNvSpPr/>
          <p:nvPr/>
        </p:nvSpPr>
        <p:spPr>
          <a:xfrm>
            <a:off x="4297679" y="3429000"/>
            <a:ext cx="3520440" cy="233172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452627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443" name="Google Shape;443;p11"/>
          <p:cNvSpPr txBox="1"/>
          <p:nvPr/>
        </p:nvSpPr>
        <p:spPr>
          <a:xfrm>
            <a:off x="5029199" y="3639312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What the model can never do</a:t>
            </a:r>
            <a:endParaRPr/>
          </a:p>
        </p:txBody>
      </p:sp>
      <p:sp>
        <p:nvSpPr>
          <p:cNvPr id="444" name="Google Shape;444;p11"/>
          <p:cNvSpPr txBox="1"/>
          <p:nvPr/>
        </p:nvSpPr>
        <p:spPr>
          <a:xfrm>
            <a:off x="4571999" y="4297680"/>
            <a:ext cx="30175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Supply the customer or session, alter an order ID, call an unlisted tool, or approve a refund.</a:t>
            </a:r>
            <a:endParaRPr/>
          </a:p>
        </p:txBody>
      </p:sp>
      <p:sp>
        <p:nvSpPr>
          <p:cNvPr id="445" name="Google Shape;445;p11"/>
          <p:cNvSpPr/>
          <p:nvPr/>
        </p:nvSpPr>
        <p:spPr>
          <a:xfrm>
            <a:off x="8046719" y="3429000"/>
            <a:ext cx="3520440" cy="233172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8275319" y="361188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447" name="Google Shape;447;p11"/>
          <p:cNvSpPr txBox="1"/>
          <p:nvPr/>
        </p:nvSpPr>
        <p:spPr>
          <a:xfrm>
            <a:off x="8778240" y="3639312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Requests it cannot fulfil</a:t>
            </a:r>
            <a:endParaRPr/>
          </a:p>
        </p:txBody>
      </p:sp>
      <p:sp>
        <p:nvSpPr>
          <p:cNvPr id="448" name="Google Shape;448;p11"/>
          <p:cNvSpPr txBox="1"/>
          <p:nvPr/>
        </p:nvSpPr>
        <p:spPr>
          <a:xfrm>
            <a:off x="8321040" y="4297680"/>
            <a:ext cx="301752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Cancel or refund requests get “I can’t … in this chat”, the verified facts, and a human route; asking for a person in the same message creates the handoff.</a:t>
            </a:r>
            <a:endParaRPr/>
          </a:p>
        </p:txBody>
      </p:sp>
      <p:sp>
        <p:nvSpPr>
          <p:cNvPr id="449" name="Google Shape;449;p11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450" name="Google Shape;450;p11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2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Memory and handoff: one session across voice and text</a:t>
            </a:r>
            <a:endParaRPr/>
          </a:p>
        </p:txBody>
      </p:sp>
      <p:sp>
        <p:nvSpPr>
          <p:cNvPr id="456" name="Google Shape;456;p12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Part C: what moves with a customer from a call to a chat transcript for a human</a:t>
            </a:r>
            <a:endParaRPr/>
          </a:p>
        </p:txBody>
      </p:sp>
      <p:sp>
        <p:nvSpPr>
          <p:cNvPr id="457" name="Google Shape;457;p12"/>
          <p:cNvSpPr/>
          <p:nvPr/>
        </p:nvSpPr>
        <p:spPr>
          <a:xfrm>
            <a:off x="548640" y="1828800"/>
            <a:ext cx="219456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Voice turns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transcripts only, never audio</a:t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48640" y="3291840"/>
            <a:ext cx="219456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Text turns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same session ID</a:t>
            </a:r>
            <a:endParaRPr/>
          </a:p>
        </p:txBody>
      </p:sp>
      <p:cxnSp>
        <p:nvCxnSpPr>
          <p:cNvPr id="459" name="Google Shape;459;p12"/>
          <p:cNvCxnSpPr/>
          <p:nvPr/>
        </p:nvCxnSpPr>
        <p:spPr>
          <a:xfrm>
            <a:off x="2743200" y="2286000"/>
            <a:ext cx="548640" cy="64008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460" name="Google Shape;460;p12"/>
          <p:cNvCxnSpPr/>
          <p:nvPr/>
        </p:nvCxnSpPr>
        <p:spPr>
          <a:xfrm flipH="1" rot="10800000">
            <a:off x="2743200" y="3291840"/>
            <a:ext cx="548640" cy="457199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61" name="Google Shape;461;p12"/>
          <p:cNvSpPr/>
          <p:nvPr/>
        </p:nvSpPr>
        <p:spPr>
          <a:xfrm>
            <a:off x="3291840" y="1691640"/>
            <a:ext cx="4846320" cy="2971800"/>
          </a:xfrm>
          <a:prstGeom prst="roundRect">
            <a:avLst>
              <a:gd fmla="val 5000" name="adj"/>
            </a:avLst>
          </a:prstGeom>
          <a:solidFill>
            <a:srgbClr val="F6FAFA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2"/>
          <p:cNvSpPr txBox="1"/>
          <p:nvPr/>
        </p:nvSpPr>
        <p:spPr>
          <a:xfrm>
            <a:off x="3520440" y="1810512"/>
            <a:ext cx="4389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F7A80"/>
                </a:solidFill>
                <a:latin typeface="Calibri"/>
                <a:ea typeface="Calibri"/>
                <a:cs typeface="Calibri"/>
                <a:sym typeface="Calibri"/>
              </a:rPr>
              <a:t>Session memory</a:t>
            </a:r>
            <a:endParaRPr/>
          </a:p>
        </p:txBody>
      </p:sp>
      <p:sp>
        <p:nvSpPr>
          <p:cNvPr id="463" name="Google Shape;463;p12"/>
          <p:cNvSpPr/>
          <p:nvPr/>
        </p:nvSpPr>
        <p:spPr>
          <a:xfrm>
            <a:off x="3520440" y="2240280"/>
            <a:ext cx="2057400" cy="214884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Verified slots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active order · active product · last intent · unresolved streak  →  the only memory an LLM sees</a:t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852160" y="2240280"/>
            <a:ext cx="2057400" cy="214884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Transcript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every turn, refused ones too  →  never put in a prompt; feeds the handoff summary</a:t>
            </a:r>
            <a:endParaRPr/>
          </a:p>
        </p:txBody>
      </p:sp>
      <p:cxnSp>
        <p:nvCxnSpPr>
          <p:cNvPr id="465" name="Google Shape;465;p12"/>
          <p:cNvCxnSpPr/>
          <p:nvPr/>
        </p:nvCxnSpPr>
        <p:spPr>
          <a:xfrm>
            <a:off x="8138160" y="3154680"/>
            <a:ext cx="54864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66" name="Google Shape;466;p12"/>
          <p:cNvSpPr/>
          <p:nvPr/>
        </p:nvSpPr>
        <p:spPr>
          <a:xfrm>
            <a:off x="8686800" y="2377440"/>
            <a:ext cx="2971800" cy="1554480"/>
          </a:xfrm>
          <a:prstGeom prst="roundRect">
            <a:avLst>
              <a:gd fmla="val 12000" name="adj"/>
            </a:avLst>
          </a:prstGeom>
          <a:solidFill>
            <a:srgbClr val="12333B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Human agent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handoff reference HO-… with verified slots and the last six turns</a:t>
            </a:r>
            <a:endParaRPr/>
          </a:p>
        </p:txBody>
      </p:sp>
      <p:sp>
        <p:nvSpPr>
          <p:cNvPr id="467" name="Google Shape;467;p12"/>
          <p:cNvSpPr txBox="1"/>
          <p:nvPr/>
        </p:nvSpPr>
        <p:spPr>
          <a:xfrm>
            <a:off x="548640" y="4892040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“Can I return it?”</a:t>
            </a:r>
            <a:endParaRPr/>
          </a:p>
        </p:txBody>
      </p:sp>
      <p:sp>
        <p:nvSpPr>
          <p:cNvPr id="468" name="Google Shape;468;p12"/>
          <p:cNvSpPr txBox="1"/>
          <p:nvPr/>
        </p:nvSpPr>
        <p:spPr>
          <a:xfrm>
            <a:off x="2834640" y="489204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resolved from the verified order, no LLM call</a:t>
            </a:r>
            <a:endParaRPr/>
          </a:p>
        </p:txBody>
      </p:sp>
      <p:sp>
        <p:nvSpPr>
          <p:cNvPr id="469" name="Google Shape;469;p12"/>
          <p:cNvSpPr txBox="1"/>
          <p:nvPr/>
        </p:nvSpPr>
        <p:spPr>
          <a:xfrm>
            <a:off x="6217920" y="4892040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“My other order?”</a:t>
            </a:r>
            <a:endParaRPr/>
          </a:p>
        </p:txBody>
      </p:sp>
      <p:sp>
        <p:nvSpPr>
          <p:cNvPr id="470" name="Google Shape;470;p12"/>
          <p:cNvSpPr txBox="1"/>
          <p:nvPr/>
        </p:nvSpPr>
        <p:spPr>
          <a:xfrm>
            <a:off x="8503920" y="4892040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lists only this customer’s orders via list_orders</a:t>
            </a:r>
            <a:endParaRPr/>
          </a:p>
        </p:txBody>
      </p:sp>
      <p:sp>
        <p:nvSpPr>
          <p:cNvPr id="471" name="Google Shape;471;p12"/>
          <p:cNvSpPr txBox="1"/>
          <p:nvPr/>
        </p:nvSpPr>
        <p:spPr>
          <a:xfrm>
            <a:off x="548640" y="5458968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“Does it have a sleeve?”</a:t>
            </a:r>
            <a:endParaRPr/>
          </a:p>
        </p:txBody>
      </p:sp>
      <p:sp>
        <p:nvSpPr>
          <p:cNvPr id="472" name="Google Shape;472;p12"/>
          <p:cNvSpPr txBox="1"/>
          <p:nvPr/>
        </p:nvSpPr>
        <p:spPr>
          <a:xfrm>
            <a:off x="2834640" y="545896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query rewritten with the remembered product</a:t>
            </a:r>
            <a:endParaRPr/>
          </a:p>
        </p:txBody>
      </p:sp>
      <p:sp>
        <p:nvSpPr>
          <p:cNvPr id="473" name="Google Shape;473;p12"/>
          <p:cNvSpPr txBox="1"/>
          <p:nvPr/>
        </p:nvSpPr>
        <p:spPr>
          <a:xfrm>
            <a:off x="6217920" y="5458968"/>
            <a:ext cx="2240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Two unclear turns</a:t>
            </a:r>
            <a:endParaRPr/>
          </a:p>
        </p:txBody>
      </p:sp>
      <p:sp>
        <p:nvSpPr>
          <p:cNvPr id="474" name="Google Shape;474;p12"/>
          <p:cNvSpPr txBox="1"/>
          <p:nvPr/>
        </p:nvSpPr>
        <p:spPr>
          <a:xfrm>
            <a:off x="8503920" y="545896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the second reply offers a human</a:t>
            </a:r>
            <a:endParaRPr/>
          </a:p>
        </p:txBody>
      </p:sp>
      <p:sp>
        <p:nvSpPr>
          <p:cNvPr id="475" name="Google Shape;475;p12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476" name="Google Shape;476;p12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3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Voice line: barge-in that cannot double-handle a turn</a:t>
            </a:r>
            <a:endParaRPr/>
          </a:p>
        </p:txBody>
      </p:sp>
      <p:sp>
        <p:nvSpPr>
          <p:cNvPr id="482" name="Google Shape;482;p13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Real recorded user audio replayed in real time against audible playback</a:t>
            </a:r>
            <a:endParaRPr/>
          </a:p>
        </p:txBody>
      </p:sp>
      <p:sp>
        <p:nvSpPr>
          <p:cNvPr id="483" name="Google Shape;483;p13"/>
          <p:cNvSpPr/>
          <p:nvPr/>
        </p:nvSpPr>
        <p:spPr>
          <a:xfrm>
            <a:off x="548640" y="1691640"/>
            <a:ext cx="3108960" cy="713232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Assistant speaking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playback with a turn ID</a:t>
            </a:r>
            <a:endParaRPr/>
          </a:p>
        </p:txBody>
      </p:sp>
      <p:cxnSp>
        <p:nvCxnSpPr>
          <p:cNvPr id="484" name="Google Shape;484;p13"/>
          <p:cNvCxnSpPr/>
          <p:nvPr/>
        </p:nvCxnSpPr>
        <p:spPr>
          <a:xfrm>
            <a:off x="2103120" y="2404872"/>
            <a:ext cx="0" cy="15544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85" name="Google Shape;485;p13"/>
          <p:cNvSpPr/>
          <p:nvPr/>
        </p:nvSpPr>
        <p:spPr>
          <a:xfrm>
            <a:off x="548640" y="2560320"/>
            <a:ext cx="3108960" cy="713232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VAD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WebRTC candidate, Silero confirms</a:t>
            </a:r>
            <a:endParaRPr/>
          </a:p>
        </p:txBody>
      </p:sp>
      <p:cxnSp>
        <p:nvCxnSpPr>
          <p:cNvPr id="486" name="Google Shape;486;p13"/>
          <p:cNvCxnSpPr/>
          <p:nvPr/>
        </p:nvCxnSpPr>
        <p:spPr>
          <a:xfrm>
            <a:off x="2103120" y="3273552"/>
            <a:ext cx="0" cy="15544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87" name="Google Shape;487;p13"/>
          <p:cNvSpPr/>
          <p:nvPr/>
        </p:nvSpPr>
        <p:spPr>
          <a:xfrm>
            <a:off x="548640" y="3429000"/>
            <a:ext cx="3108960" cy="713232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Coordinator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cancel playback, discard the stale turn</a:t>
            </a:r>
            <a:endParaRPr/>
          </a:p>
        </p:txBody>
      </p:sp>
      <p:cxnSp>
        <p:nvCxnSpPr>
          <p:cNvPr id="488" name="Google Shape;488;p13"/>
          <p:cNvCxnSpPr/>
          <p:nvPr/>
        </p:nvCxnSpPr>
        <p:spPr>
          <a:xfrm>
            <a:off x="2103120" y="4142232"/>
            <a:ext cx="0" cy="155448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89" name="Google Shape;489;p13"/>
          <p:cNvSpPr/>
          <p:nvPr/>
        </p:nvSpPr>
        <p:spPr>
          <a:xfrm>
            <a:off x="548640" y="4297679"/>
            <a:ext cx="3108960" cy="713232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Whisper STT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retry once, then safe handoff</a:t>
            </a:r>
            <a:endParaRPr/>
          </a:p>
        </p:txBody>
      </p:sp>
      <p:cxnSp>
        <p:nvCxnSpPr>
          <p:cNvPr id="490" name="Google Shape;490;p13"/>
          <p:cNvCxnSpPr/>
          <p:nvPr/>
        </p:nvCxnSpPr>
        <p:spPr>
          <a:xfrm>
            <a:off x="2103120" y="5010912"/>
            <a:ext cx="0" cy="155447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491" name="Google Shape;491;p13"/>
          <p:cNvSpPr/>
          <p:nvPr/>
        </p:nvSpPr>
        <p:spPr>
          <a:xfrm>
            <a:off x="548640" y="5166360"/>
            <a:ext cx="3108960" cy="713232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SupportService → TTS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same guarded path as text</a:t>
            </a:r>
            <a:endParaRPr/>
          </a:p>
        </p:txBody>
      </p:sp>
      <p:graphicFrame>
        <p:nvGraphicFramePr>
          <p:cNvPr id="492" name="Google Shape;492;p13"/>
          <p:cNvGraphicFramePr/>
          <p:nvPr/>
        </p:nvGraphicFramePr>
        <p:xfrm>
          <a:off x="4023360" y="1691640"/>
          <a:ext cx="3000000" cy="3000000"/>
        </p:xfrm>
        <a:graphic>
          <a:graphicData uri="http://schemas.openxmlformats.org/drawingml/2006/table">
            <a:tbl>
              <a:tblPr firstRow="1">
                <a:noFill/>
                <a:tableStyleId>{206A0D87-688B-4259-BE95-99BD98E3B03D}</a:tableStyleId>
              </a:tblPr>
              <a:tblGrid>
                <a:gridCol w="2331725"/>
                <a:gridCol w="2514600"/>
                <a:gridCol w="2788925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Scenario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1233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Expected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12333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12333B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Silence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Play to the end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interruption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Noise burst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interrupt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interruption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Normal question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Cancel, answer once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Cancelled in 114 ms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eligibility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Cancel, answer once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Cancelled in 127 ms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“Wait, wrong order”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New turn, old one dropped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Stale turn discarded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User’s adversarial line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refund promise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Status + no refund issued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ECF3F3"/>
                    </a:solidFill>
                  </a:tcPr>
                </a:tc>
              </a:tr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STT provider failure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>
                          <a:solidFill>
                            <a:srgbClr val="12333B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Retry, then hand off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>
                          <a:solidFill>
                            <a:srgbClr val="2E7D4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 attempts, safe handoff</a:t>
                      </a:r>
                      <a:endParaRPr/>
                    </a:p>
                  </a:txBody>
                  <a:tcPr marT="27425" marB="27425" marR="73150" marL="73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3" name="Google Shape;493;p13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494" name="Google Shape;494;p13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14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Voice latency: speech turns answered in 2.1–2.9 s</a:t>
            </a:r>
            <a:endParaRPr/>
          </a:p>
        </p:txBody>
      </p:sp>
      <p:sp>
        <p:nvSpPr>
          <p:cNvPr id="500" name="Google Shape;500;p14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End of user speech (VAD) to application playback start, real recordings</a:t>
            </a:r>
            <a:endParaRPr/>
          </a:p>
        </p:txBody>
      </p:sp>
      <p:graphicFrame>
        <p:nvGraphicFramePr>
          <p:cNvPr id="501" name="Google Shape;501;p14"/>
          <p:cNvGraphicFramePr/>
          <p:nvPr/>
        </p:nvGraphicFramePr>
        <p:xfrm>
          <a:off x="548640" y="1600200"/>
          <a:ext cx="7498079" cy="452628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502" name="Google Shape;502;p14"/>
          <p:cNvSpPr/>
          <p:nvPr/>
        </p:nvSpPr>
        <p:spPr>
          <a:xfrm>
            <a:off x="8366760" y="1691640"/>
            <a:ext cx="3291840" cy="434340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4"/>
          <p:cNvSpPr txBox="1"/>
          <p:nvPr/>
        </p:nvSpPr>
        <p:spPr>
          <a:xfrm>
            <a:off x="8595360" y="18288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What keeps it fast</a:t>
            </a:r>
            <a:endParaRPr/>
          </a:p>
        </p:txBody>
      </p:sp>
      <p:sp>
        <p:nvSpPr>
          <p:cNvPr id="504" name="Google Shape;504;p14"/>
          <p:cNvSpPr txBox="1"/>
          <p:nvPr/>
        </p:nvSpPr>
        <p:spPr>
          <a:xfrm>
            <a:off x="8595360" y="2240280"/>
            <a:ext cx="28346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Models load when the call connects, not inside a turn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Routing needs 0.245 LLM calls per message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Local TTS, no extra network hop</a:t>
            </a:r>
            <a:endParaRPr/>
          </a:p>
        </p:txBody>
      </p:sp>
      <p:sp>
        <p:nvSpPr>
          <p:cNvPr id="505" name="Google Shape;505;p14"/>
          <p:cNvSpPr txBox="1"/>
          <p:nvPr/>
        </p:nvSpPr>
        <p:spPr>
          <a:xfrm>
            <a:off x="8595360" y="39319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Read with care</a:t>
            </a:r>
            <a:endParaRPr/>
          </a:p>
        </p:txBody>
      </p:sp>
      <p:sp>
        <p:nvSpPr>
          <p:cNvPr id="506" name="Google Shape;506;p14"/>
          <p:cNvSpPr txBox="1"/>
          <p:nvPr/>
        </p:nvSpPr>
        <p:spPr>
          <a:xfrm>
            <a:off x="8595360" y="4343400"/>
            <a:ext cx="28346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Playback start, not first acoustic sample</a:t>
            </a:r>
            <a:endParaRPr/>
          </a:p>
          <a:p>
            <a:pPr indent="-201168" lvl="0" marL="201168" marR="0" rtl="0" algn="l">
              <a:spcBef>
                <a:spcPts val="600"/>
              </a:spcBef>
              <a:spcAft>
                <a:spcPts val="0"/>
              </a:spcAft>
              <a:buClr>
                <a:srgbClr val="12333B"/>
              </a:buClr>
              <a:buSzPts val="1300"/>
              <a:buFont typeface="Arial"/>
              <a:buChar char="•"/>
            </a:pPr>
            <a:r>
              <a:rPr b="0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One run per scenario; one earlier adversarial run took 3.02 s</a:t>
            </a:r>
            <a:endParaRPr/>
          </a:p>
        </p:txBody>
      </p:sp>
      <p:sp>
        <p:nvSpPr>
          <p:cNvPr id="507" name="Google Shape;507;p14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508" name="Google Shape;508;p14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5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Evidence a reviewer can rerun</a:t>
            </a:r>
            <a:endParaRPr/>
          </a:p>
        </p:txBody>
      </p:sp>
      <p:sp>
        <p:nvSpPr>
          <p:cNvPr id="514" name="Google Shape;514;p15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Keyless by default; every live result is labeled live and committed with its command</a:t>
            </a:r>
            <a:endParaRPr/>
          </a:p>
        </p:txBody>
      </p:sp>
      <p:sp>
        <p:nvSpPr>
          <p:cNvPr id="515" name="Google Shape;515;p15"/>
          <p:cNvSpPr/>
          <p:nvPr/>
        </p:nvSpPr>
        <p:spPr>
          <a:xfrm>
            <a:off x="548640" y="1691640"/>
            <a:ext cx="5440680" cy="201168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5"/>
          <p:cNvSpPr/>
          <p:nvPr/>
        </p:nvSpPr>
        <p:spPr>
          <a:xfrm>
            <a:off x="77724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17" name="Google Shape;517;p15"/>
          <p:cNvSpPr txBox="1"/>
          <p:nvPr/>
        </p:nvSpPr>
        <p:spPr>
          <a:xfrm>
            <a:off x="1325880" y="192024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Held-out sets</a:t>
            </a:r>
            <a:endParaRPr/>
          </a:p>
        </p:txBody>
      </p:sp>
      <p:sp>
        <p:nvSpPr>
          <p:cNvPr id="518" name="Google Shape;518;p15"/>
          <p:cNvSpPr txBox="1"/>
          <p:nvPr/>
        </p:nvSpPr>
        <p:spPr>
          <a:xfrm>
            <a:off x="1325880" y="2423160"/>
            <a:ext cx="44805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Routing: 110 messages incl. Hinglish, typos, traps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Retrieval: 45 questions, 13 near-miss negatives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Never used for tuning; a test keeps them apart</a:t>
            </a:r>
            <a:endParaRPr/>
          </a:p>
        </p:txBody>
      </p:sp>
      <p:sp>
        <p:nvSpPr>
          <p:cNvPr id="519" name="Google Shape;519;p15"/>
          <p:cNvSpPr/>
          <p:nvPr/>
        </p:nvSpPr>
        <p:spPr>
          <a:xfrm>
            <a:off x="6217920" y="1691640"/>
            <a:ext cx="5440680" cy="201168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5"/>
          <p:cNvSpPr/>
          <p:nvPr/>
        </p:nvSpPr>
        <p:spPr>
          <a:xfrm>
            <a:off x="6446520" y="189280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21" name="Google Shape;521;p15"/>
          <p:cNvSpPr txBox="1"/>
          <p:nvPr/>
        </p:nvSpPr>
        <p:spPr>
          <a:xfrm>
            <a:off x="6995159" y="192024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Metrics that separate causes</a:t>
            </a:r>
            <a:endParaRPr/>
          </a:p>
        </p:txBody>
      </p:sp>
      <p:sp>
        <p:nvSpPr>
          <p:cNvPr id="522" name="Google Shape;522;p15"/>
          <p:cNvSpPr txBox="1"/>
          <p:nvPr/>
        </p:nvSpPr>
        <p:spPr>
          <a:xfrm>
            <a:off x="6995159" y="2423160"/>
            <a:ext cx="44805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Ranking before the threshold vs the threshold decision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Dead ends and false escalations, not only accuracy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LLM calls and latency per tier</a:t>
            </a:r>
            <a:endParaRPr/>
          </a:p>
        </p:txBody>
      </p:sp>
      <p:sp>
        <p:nvSpPr>
          <p:cNvPr id="523" name="Google Shape;523;p15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fmla="val 8000" name="adj"/>
            </a:avLst>
          </a:prstGeom>
          <a:solidFill>
            <a:srgbClr val="F6FAFA"/>
          </a:solidFill>
          <a:ln cap="flat" cmpd="sng" w="12700">
            <a:solidFill>
              <a:srgbClr val="DDE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5"/>
          <p:cNvSpPr/>
          <p:nvPr/>
        </p:nvSpPr>
        <p:spPr>
          <a:xfrm>
            <a:off x="77724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25" name="Google Shape;525;p15"/>
          <p:cNvSpPr txBox="1"/>
          <p:nvPr/>
        </p:nvSpPr>
        <p:spPr>
          <a:xfrm>
            <a:off x="1325880" y="416052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Tests and hygiene</a:t>
            </a:r>
            <a:endParaRPr/>
          </a:p>
        </p:txBody>
      </p:sp>
      <p:sp>
        <p:nvSpPr>
          <p:cNvPr id="526" name="Google Shape;526;p15"/>
          <p:cNvSpPr txBox="1"/>
          <p:nvPr/>
        </p:nvSpPr>
        <p:spPr>
          <a:xfrm>
            <a:off x="1325880" y="4663440"/>
            <a:ext cx="44805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221 keyless tests; live checks opt-in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 strict xfail pins a known guard limit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Secret scan before every commit; keys never printed</a:t>
            </a:r>
            <a:endParaRPr/>
          </a:p>
        </p:txBody>
      </p:sp>
      <p:sp>
        <p:nvSpPr>
          <p:cNvPr id="527" name="Google Shape;527;p15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5"/>
          <p:cNvSpPr/>
          <p:nvPr/>
        </p:nvSpPr>
        <p:spPr>
          <a:xfrm>
            <a:off x="6446520" y="4133088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29" name="Google Shape;529;p15"/>
          <p:cNvSpPr txBox="1"/>
          <p:nvPr/>
        </p:nvSpPr>
        <p:spPr>
          <a:xfrm>
            <a:off x="6995159" y="4160520"/>
            <a:ext cx="4480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Process</a:t>
            </a:r>
            <a:endParaRPr/>
          </a:p>
        </p:txBody>
      </p:sp>
      <p:sp>
        <p:nvSpPr>
          <p:cNvPr id="530" name="Google Shape;530;p15"/>
          <p:cNvSpPr txBox="1"/>
          <p:nvPr/>
        </p:nvSpPr>
        <p:spPr>
          <a:xfrm>
            <a:off x="6995159" y="4663440"/>
            <a:ext cx="448056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Incremental commits with a timestamped decisions log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Abandoned approaches recorded, e.g. rerankers</a:t>
            </a:r>
            <a:endParaRPr/>
          </a:p>
          <a:p>
            <a:pPr indent="-201168" lvl="0" marL="201168" marR="0" rtl="0" algn="l">
              <a:spcBef>
                <a:spcPts val="700"/>
              </a:spcBef>
              <a:spcAft>
                <a:spcPts val="0"/>
              </a:spcAft>
              <a:buClr>
                <a:srgbClr val="12333B"/>
              </a:buClr>
              <a:buSzPts val="1500"/>
              <a:buFont typeface="Arial"/>
              <a:buChar char="•"/>
            </a:pPr>
            <a:r>
              <a:rPr b="0" i="0" lang="en-US" sz="15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Red-team findings from reproduced behavior only</a:t>
            </a:r>
            <a:endParaRPr/>
          </a:p>
        </p:txBody>
      </p:sp>
      <p:sp>
        <p:nvSpPr>
          <p:cNvPr id="531" name="Google Shape;531;p15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532" name="Google Shape;532;p15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17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12333B"/>
                </a:solidFill>
                <a:latin typeface="Cambria"/>
                <a:ea typeface="Cambria"/>
                <a:cs typeface="Cambria"/>
                <a:sym typeface="Cambria"/>
              </a:rPr>
              <a:t>Path to 10,000 concurrent sessions</a:t>
            </a:r>
            <a:endParaRPr/>
          </a:p>
        </p:txBody>
      </p:sp>
      <p:sp>
        <p:nvSpPr>
          <p:cNvPr id="538" name="Google Shape;538;p17"/>
          <p:cNvSpPr txBox="1"/>
          <p:nvPr/>
        </p:nvSpPr>
        <p:spPr>
          <a:xfrm>
            <a:off x="548640" y="1060704"/>
            <a:ext cx="11064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Designed, not built or load-tested: what changes between the demo and production</a:t>
            </a:r>
            <a:endParaRPr/>
          </a:p>
        </p:txBody>
      </p:sp>
      <p:sp>
        <p:nvSpPr>
          <p:cNvPr id="539" name="Google Shape;539;p17"/>
          <p:cNvSpPr/>
          <p:nvPr/>
        </p:nvSpPr>
        <p:spPr>
          <a:xfrm>
            <a:off x="548640" y="1783080"/>
            <a:ext cx="2011680" cy="9144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Edge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WebRTC VAD on device; TLS, auth</a:t>
            </a:r>
            <a:endParaRPr/>
          </a:p>
        </p:txBody>
      </p:sp>
      <p:cxnSp>
        <p:nvCxnSpPr>
          <p:cNvPr id="540" name="Google Shape;540;p17"/>
          <p:cNvCxnSpPr/>
          <p:nvPr/>
        </p:nvCxnSpPr>
        <p:spPr>
          <a:xfrm>
            <a:off x="2560320" y="2240280"/>
            <a:ext cx="457200" cy="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41" name="Google Shape;541;p17"/>
          <p:cNvSpPr/>
          <p:nvPr/>
        </p:nvSpPr>
        <p:spPr>
          <a:xfrm>
            <a:off x="3017520" y="1691640"/>
            <a:ext cx="2651760" cy="109728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Stateless workers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SupportService replicas behind a queue with backpressure</a:t>
            </a:r>
            <a:endParaRPr/>
          </a:p>
        </p:txBody>
      </p:sp>
      <p:cxnSp>
        <p:nvCxnSpPr>
          <p:cNvPr id="542" name="Google Shape;542;p17"/>
          <p:cNvCxnSpPr/>
          <p:nvPr/>
        </p:nvCxnSpPr>
        <p:spPr>
          <a:xfrm>
            <a:off x="3657600" y="2788920"/>
            <a:ext cx="0" cy="27432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543" name="Google Shape;543;p17"/>
          <p:cNvCxnSpPr/>
          <p:nvPr/>
        </p:nvCxnSpPr>
        <p:spPr>
          <a:xfrm>
            <a:off x="5029200" y="2788920"/>
            <a:ext cx="0" cy="274320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44" name="Google Shape;544;p17"/>
          <p:cNvSpPr/>
          <p:nvPr/>
        </p:nvSpPr>
        <p:spPr>
          <a:xfrm>
            <a:off x="3017520" y="3063240"/>
            <a:ext cx="1280160" cy="68580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Redis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session slots, cache</a:t>
            </a:r>
            <a:endParaRPr/>
          </a:p>
        </p:txBody>
      </p:sp>
      <p:sp>
        <p:nvSpPr>
          <p:cNvPr id="545" name="Google Shape;545;p17"/>
          <p:cNvSpPr/>
          <p:nvPr/>
        </p:nvSpPr>
        <p:spPr>
          <a:xfrm>
            <a:off x="4389120" y="3063240"/>
            <a:ext cx="1280160" cy="685800"/>
          </a:xfrm>
          <a:prstGeom prst="roundRect">
            <a:avLst>
              <a:gd fmla="val 12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PostgreSQL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transcripts, audit</a:t>
            </a:r>
            <a:endParaRPr/>
          </a:p>
        </p:txBody>
      </p:sp>
      <p:cxnSp>
        <p:nvCxnSpPr>
          <p:cNvPr id="546" name="Google Shape;546;p17"/>
          <p:cNvCxnSpPr/>
          <p:nvPr/>
        </p:nvCxnSpPr>
        <p:spPr>
          <a:xfrm flipH="1" rot="10800000">
            <a:off x="5669280" y="1938528"/>
            <a:ext cx="731520" cy="73152"/>
          </a:xfrm>
          <a:prstGeom prst="straightConnector1">
            <a:avLst/>
          </a:prstGeom>
          <a:noFill/>
          <a:ln cap="flat" cmpd="sng" w="22225">
            <a:solidFill>
              <a:srgbClr val="1F7A80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cxnSp>
        <p:nvCxnSpPr>
          <p:cNvPr id="547" name="Google Shape;547;p17"/>
          <p:cNvCxnSpPr/>
          <p:nvPr/>
        </p:nvCxnSpPr>
        <p:spPr>
          <a:xfrm>
            <a:off x="5669280" y="2468880"/>
            <a:ext cx="731520" cy="338328"/>
          </a:xfrm>
          <a:prstGeom prst="straightConnector1">
            <a:avLst/>
          </a:prstGeom>
          <a:noFill/>
          <a:ln cap="flat" cmpd="sng" w="22225">
            <a:solidFill>
              <a:srgbClr val="E8A33D"/>
            </a:solidFill>
            <a:prstDash val="dash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48" name="Google Shape;548;p17"/>
          <p:cNvSpPr/>
          <p:nvPr/>
        </p:nvSpPr>
        <p:spPr>
          <a:xfrm>
            <a:off x="6400800" y="1600200"/>
            <a:ext cx="2651760" cy="6858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B8CA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Groq (primary)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deadlines, circuit breaker</a:t>
            </a:r>
            <a:endParaRPr/>
          </a:p>
        </p:txBody>
      </p:sp>
      <p:sp>
        <p:nvSpPr>
          <p:cNvPr id="549" name="Google Shape;549;p17"/>
          <p:cNvSpPr/>
          <p:nvPr/>
        </p:nvSpPr>
        <p:spPr>
          <a:xfrm>
            <a:off x="6400800" y="2468880"/>
            <a:ext cx="2651760" cy="6858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E8A3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6575" lIns="73150" spcFirstLastPara="1" rIns="73150" wrap="square" tIns="365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Second provider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5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only after passing the same evals</a:t>
            </a:r>
            <a:endParaRPr/>
          </a:p>
        </p:txBody>
      </p:sp>
      <p:sp>
        <p:nvSpPr>
          <p:cNvPr id="550" name="Google Shape;550;p17"/>
          <p:cNvSpPr/>
          <p:nvPr/>
        </p:nvSpPr>
        <p:spPr>
          <a:xfrm>
            <a:off x="9372600" y="1600200"/>
            <a:ext cx="2286000" cy="2148840"/>
          </a:xfrm>
          <a:prstGeom prst="roundRect">
            <a:avLst>
              <a:gd fmla="val 8000" name="adj"/>
            </a:avLst>
          </a:prstGeom>
          <a:solidFill>
            <a:srgbClr val="EC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7"/>
          <p:cNvSpPr txBox="1"/>
          <p:nvPr/>
        </p:nvSpPr>
        <p:spPr>
          <a:xfrm>
            <a:off x="9555480" y="17373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1F7A80"/>
                </a:solidFill>
                <a:latin typeface="Calibri"/>
                <a:ea typeface="Calibri"/>
                <a:cs typeface="Calibri"/>
                <a:sym typeface="Calibri"/>
              </a:rPr>
              <a:t>Measured today</a:t>
            </a:r>
            <a:endParaRPr/>
          </a:p>
        </p:txBody>
      </p:sp>
      <p:sp>
        <p:nvSpPr>
          <p:cNvPr id="552" name="Google Shape;552;p17"/>
          <p:cNvSpPr txBox="1"/>
          <p:nvPr/>
        </p:nvSpPr>
        <p:spPr>
          <a:xfrm>
            <a:off x="9555480" y="2057400"/>
            <a:ext cx="1920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F7A80"/>
                </a:solidFill>
                <a:latin typeface="Cambria"/>
                <a:ea typeface="Cambria"/>
                <a:cs typeface="Cambria"/>
                <a:sym typeface="Cambria"/>
              </a:rPr>
              <a:t>77%</a:t>
            </a:r>
            <a:endParaRPr/>
          </a:p>
        </p:txBody>
      </p:sp>
      <p:sp>
        <p:nvSpPr>
          <p:cNvPr id="553" name="Google Shape;553;p17"/>
          <p:cNvSpPr txBox="1"/>
          <p:nvPr/>
        </p:nvSpPr>
        <p:spPr>
          <a:xfrm>
            <a:off x="9555480" y="2743200"/>
            <a:ext cx="1920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routing outcome accuracy with no LLM at all</a:t>
            </a:r>
            <a:endParaRPr/>
          </a:p>
        </p:txBody>
      </p:sp>
      <p:sp>
        <p:nvSpPr>
          <p:cNvPr id="554" name="Google Shape;554;p17"/>
          <p:cNvSpPr/>
          <p:nvPr/>
        </p:nvSpPr>
        <p:spPr>
          <a:xfrm>
            <a:off x="548640" y="406908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55" name="Google Shape;555;p17"/>
          <p:cNvSpPr txBox="1"/>
          <p:nvPr/>
        </p:nvSpPr>
        <p:spPr>
          <a:xfrm>
            <a:off x="1051560" y="4087368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Scale</a:t>
            </a:r>
            <a:endParaRPr/>
          </a:p>
        </p:txBody>
      </p:sp>
      <p:sp>
        <p:nvSpPr>
          <p:cNvPr id="556" name="Google Shape;556;p17"/>
          <p:cNvSpPr txBox="1"/>
          <p:nvPr/>
        </p:nvSpPr>
        <p:spPr>
          <a:xfrm>
            <a:off x="2423160" y="4087368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Per-tenant rate limits, bounded queues, connection pools, shed load safely</a:t>
            </a: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548640" y="457200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558" name="Google Shape;558;p17"/>
          <p:cNvSpPr txBox="1"/>
          <p:nvPr/>
        </p:nvSpPr>
        <p:spPr>
          <a:xfrm>
            <a:off x="1051560" y="4590288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Degrade</a:t>
            </a:r>
            <a:endParaRPr/>
          </a:p>
        </p:txBody>
      </p:sp>
      <p:sp>
        <p:nvSpPr>
          <p:cNvPr id="559" name="Google Shape;559;p17"/>
          <p:cNvSpPr txBox="1"/>
          <p:nvPr/>
        </p:nvSpPr>
        <p:spPr>
          <a:xfrm>
            <a:off x="2423160" y="4590288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Rules and examples keep routing without an LLM; templated replies stay correct</a:t>
            </a: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548640" y="507492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61" name="Google Shape;561;p17"/>
          <p:cNvSpPr txBox="1"/>
          <p:nvPr/>
        </p:nvSpPr>
        <p:spPr>
          <a:xfrm>
            <a:off x="1051560" y="5093208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Switch</a:t>
            </a:r>
            <a:endParaRPr/>
          </a:p>
        </p:txBody>
      </p:sp>
      <p:sp>
        <p:nvSpPr>
          <p:cNvPr id="562" name="Google Shape;562;p17"/>
          <p:cNvSpPr txBox="1"/>
          <p:nvPr/>
        </p:nvSpPr>
        <p:spPr>
          <a:xfrm>
            <a:off x="2423160" y="5093208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Failover only to a provider that passed the same routing and guard eval sets</a:t>
            </a: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548640" y="5577840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564" name="Google Shape;564;p17"/>
          <p:cNvSpPr txBox="1"/>
          <p:nvPr/>
        </p:nvSpPr>
        <p:spPr>
          <a:xfrm>
            <a:off x="1051560" y="5596128"/>
            <a:ext cx="1371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12333B"/>
                </a:solidFill>
                <a:latin typeface="Calibri"/>
                <a:ea typeface="Calibri"/>
                <a:cs typeface="Calibri"/>
                <a:sym typeface="Calibri"/>
              </a:rPr>
              <a:t>Watch</a:t>
            </a:r>
            <a:endParaRPr/>
          </a:p>
        </p:txBody>
      </p:sp>
      <p:sp>
        <p:nvSpPr>
          <p:cNvPr id="565" name="Google Shape;565;p17"/>
          <p:cNvSpPr txBox="1"/>
          <p:nvPr/>
        </p:nvSpPr>
        <p:spPr>
          <a:xfrm>
            <a:off x="2423160" y="5596128"/>
            <a:ext cx="9235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p95 voice start, guard false-allow/false-block, dead ends, handoff completion</a:t>
            </a:r>
            <a:endParaRPr/>
          </a:p>
        </p:txBody>
      </p:sp>
      <p:sp>
        <p:nvSpPr>
          <p:cNvPr id="566" name="Google Shape;566;p17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567" name="Google Shape;567;p17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55696D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333B"/>
        </a:solidFill>
      </p:bgPr>
    </p:bg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8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Limits stated, next steps clear</a:t>
            </a:r>
            <a:endParaRPr/>
          </a:p>
        </p:txBody>
      </p:sp>
      <p:sp>
        <p:nvSpPr>
          <p:cNvPr id="573" name="Google Shape;573;p18"/>
          <p:cNvSpPr/>
          <p:nvPr/>
        </p:nvSpPr>
        <p:spPr>
          <a:xfrm>
            <a:off x="548640" y="1463040"/>
            <a:ext cx="5440680" cy="3429000"/>
          </a:xfrm>
          <a:prstGeom prst="roundRect">
            <a:avLst>
              <a:gd fmla="val 6000" name="adj"/>
            </a:avLst>
          </a:prstGeom>
          <a:solidFill>
            <a:srgbClr val="1D4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8"/>
          <p:cNvSpPr txBox="1"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Known limits</a:t>
            </a:r>
            <a:endParaRPr/>
          </a:p>
        </p:txBody>
      </p:sp>
      <p:sp>
        <p:nvSpPr>
          <p:cNvPr id="575" name="Google Shape;575;p18"/>
          <p:cNvSpPr txBox="1"/>
          <p:nvPr/>
        </p:nvSpPr>
        <p:spPr>
          <a:xfrm>
            <a:off x="822960" y="2194560"/>
            <a:ext cx="493776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memory is process-local, not durable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second LLM provider yet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Voice timing is playback start, not first sound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Claim guard does not understand negation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 sets are small and author-written</a:t>
            </a:r>
            <a:endParaRPr/>
          </a:p>
        </p:txBody>
      </p:sp>
      <p:sp>
        <p:nvSpPr>
          <p:cNvPr id="576" name="Google Shape;576;p18"/>
          <p:cNvSpPr/>
          <p:nvPr/>
        </p:nvSpPr>
        <p:spPr>
          <a:xfrm>
            <a:off x="6217920" y="1463040"/>
            <a:ext cx="5440680" cy="3429000"/>
          </a:xfrm>
          <a:prstGeom prst="roundRect">
            <a:avLst>
              <a:gd fmla="val 6000" name="adj"/>
            </a:avLst>
          </a:prstGeom>
          <a:solidFill>
            <a:srgbClr val="1D465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8"/>
          <p:cNvSpPr txBox="1"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/>
          </a:p>
        </p:txBody>
      </p:sp>
      <p:sp>
        <p:nvSpPr>
          <p:cNvPr id="578" name="Google Shape;578;p18"/>
          <p:cNvSpPr txBox="1"/>
          <p:nvPr/>
        </p:nvSpPr>
        <p:spPr>
          <a:xfrm>
            <a:off x="6492240" y="2194560"/>
            <a:ext cx="493776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01168" lvl="0" marL="201168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Redis + Postgres session store with retention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Semantic claim check for negated statements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Clarify-or-both routing for mixed requests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in the customer’s script; matching TTS voice</a:t>
            </a:r>
            <a:endParaRPr/>
          </a:p>
          <a:p>
            <a:pPr indent="-201168" lvl="0" marL="201168" marR="0" rtl="0" algn="l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Loopback rig for first-acoustic-sample latency</a:t>
            </a:r>
            <a:endParaRPr/>
          </a:p>
        </p:txBody>
      </p:sp>
      <p:sp>
        <p:nvSpPr>
          <p:cNvPr id="579" name="Google Shape;579;p18"/>
          <p:cNvSpPr/>
          <p:nvPr/>
        </p:nvSpPr>
        <p:spPr>
          <a:xfrm>
            <a:off x="566928" y="5285232"/>
            <a:ext cx="310896" cy="310896"/>
          </a:xfrm>
          <a:prstGeom prst="star4">
            <a:avLst>
              <a:gd fmla="val 12500" name="adj"/>
            </a:avLst>
          </a:prstGeom>
          <a:solidFill>
            <a:srgbClr val="E8A3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8"/>
          <p:cNvSpPr txBox="1"/>
          <p:nvPr/>
        </p:nvSpPr>
        <p:spPr>
          <a:xfrm>
            <a:off x="1024128" y="5230368"/>
            <a:ext cx="10607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Code, evidence, and this deck: github.com/amit253/Agentic-Customer-Support-Assistant</a:t>
            </a:r>
            <a:endParaRPr/>
          </a:p>
        </p:txBody>
      </p:sp>
      <p:sp>
        <p:nvSpPr>
          <p:cNvPr id="581" name="Google Shape;581;p18"/>
          <p:cNvSpPr txBox="1"/>
          <p:nvPr/>
        </p:nvSpPr>
        <p:spPr>
          <a:xfrm>
            <a:off x="548640" y="6419088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Northstar Gear · Agentic Customer Support Assistant</a:t>
            </a:r>
            <a:endParaRPr/>
          </a:p>
        </p:txBody>
      </p:sp>
      <p:sp>
        <p:nvSpPr>
          <p:cNvPr id="582" name="Google Shape;582;p18"/>
          <p:cNvSpPr txBox="1"/>
          <p:nvPr/>
        </p:nvSpPr>
        <p:spPr>
          <a:xfrm>
            <a:off x="10881360" y="6419088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CFE3E4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