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Sheet1!$A$2:$A$7</c:f>
              <c:strCache>
                <c:ptCount val="6"/>
                <c:pt idx="0">
                  <c:v>Product question</c:v>
                </c:pt>
                <c:pt idx="1">
                  <c:v>Order status</c:v>
                </c:pt>
                <c:pt idx="2">
                  <c:v>Human handoff</c:v>
                </c:pt>
                <c:pt idx="3">
                  <c:v>Smalltalk</c:v>
                </c:pt>
                <c:pt idx="4">
                  <c:v>Out of scope</c:v>
                </c:pt>
                <c:pt idx="5">
                  <c:v>Unclear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</c:v>
                </c:pt>
                <c:pt idx="1">
                  <c:v>0.923</c:v>
                </c:pt>
                <c:pt idx="2">
                  <c:v>0.933</c:v>
                </c:pt>
                <c:pt idx="3">
                  <c:v>1.0</c:v>
                </c:pt>
                <c:pt idx="4">
                  <c:v>0.933</c:v>
                </c:pt>
                <c:pt idx="5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Sheet1!$A$2:$A$7</c:f>
              <c:strCache>
                <c:ptCount val="6"/>
                <c:pt idx="0">
                  <c:v>Product question</c:v>
                </c:pt>
                <c:pt idx="1">
                  <c:v>Order status</c:v>
                </c:pt>
                <c:pt idx="2">
                  <c:v>Human handoff</c:v>
                </c:pt>
                <c:pt idx="3">
                  <c:v>Smalltalk</c:v>
                </c:pt>
                <c:pt idx="4">
                  <c:v>Out of scope</c:v>
                </c:pt>
                <c:pt idx="5">
                  <c:v>Unclear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0.917</c:v>
                </c:pt>
                <c:pt idx="1">
                  <c:v>1.0</c:v>
                </c:pt>
                <c:pt idx="2">
                  <c:v>0.933</c:v>
                </c:pt>
                <c:pt idx="3">
                  <c:v>1.0</c:v>
                </c:pt>
                <c:pt idx="4">
                  <c:v>1.0</c:v>
                </c:pt>
                <c:pt idx="5">
                  <c:v>0.923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2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  <c:majorUnit val="0.2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recall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Sheet1!$A$2:$A$6</c:f>
              <c:strCache>
                <c:ptCount val="5"/>
                <c:pt idx="0">
                  <c:v>MiniLM dense</c:v>
                </c:pt>
                <c:pt idx="1">
                  <c:v>MiniLM dense, tuned cut</c:v>
                </c:pt>
                <c:pt idx="2">
                  <c:v>MiniLM + BM25</c:v>
                </c:pt>
                <c:pt idx="3">
                  <c:v>MiniLM + BM25 + reranker</c:v>
                </c:pt>
                <c:pt idx="4">
                  <c:v>e5 + BM25 (selected)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0.516</c:v>
                </c:pt>
                <c:pt idx="1">
                  <c:v>0.781</c:v>
                </c:pt>
                <c:pt idx="2">
                  <c:v>0.797</c:v>
                </c:pt>
                <c:pt idx="3">
                  <c:v>0.562</c:v>
                </c:pt>
                <c:pt idx="4">
                  <c:v>0.922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Sheet1!$A$2:$A$6</c:f>
              <c:strCache>
                <c:ptCount val="5"/>
                <c:pt idx="0">
                  <c:v>MiniLM dense</c:v>
                </c:pt>
                <c:pt idx="1">
                  <c:v>MiniLM dense, tuned cut</c:v>
                </c:pt>
                <c:pt idx="2">
                  <c:v>MiniLM + BM25</c:v>
                </c:pt>
                <c:pt idx="3">
                  <c:v>MiniLM + BM25 + reranker</c:v>
                </c:pt>
                <c:pt idx="4">
                  <c:v>e5 + BM25 (selected)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0.857</c:v>
                </c:pt>
                <c:pt idx="1">
                  <c:v>0.857</c:v>
                </c:pt>
                <c:pt idx="2">
                  <c:v>0.907</c:v>
                </c:pt>
                <c:pt idx="3">
                  <c:v>0.885</c:v>
                </c:pt>
                <c:pt idx="4">
                  <c:v>0.912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 w="9525">
              <a:solidFill>
                <a:srgbClr val="DDE7E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1F7A80"/>
            </a:solidFill>
          </c:spPr>
          <c:dPt>
            <c:idx val="0"/>
            <c:spPr>
              <a:solidFill>
                <a:srgbClr val="1F7A80"/>
              </a:solidFill>
            </c:spPr>
          </c:dPt>
          <c:dPt>
            <c:idx val="1"/>
            <c:spPr>
              <a:solidFill>
                <a:srgbClr val="1F7A80"/>
              </a:solidFill>
            </c:spPr>
          </c:dPt>
          <c:dPt>
            <c:idx val="2"/>
            <c:spPr>
              <a:solidFill>
                <a:srgbClr val="1F7A80"/>
              </a:solidFill>
            </c:spPr>
          </c:dPt>
          <c:dPt>
            <c:idx val="3"/>
            <c:spPr>
              <a:solidFill>
                <a:srgbClr val="1F7A80"/>
              </a:solidFill>
            </c:spPr>
          </c:dPt>
          <c:dPt>
            <c:idx val="4"/>
            <c:spPr>
              <a:solidFill>
                <a:srgbClr val="A9BCBE"/>
              </a:solidFill>
            </c:spPr>
          </c:dPt>
          <c:cat>
            <c:strRef>
              <c:f>Sheet1!$A$2:$A$6</c:f>
              <c:strCache>
                <c:ptCount val="5"/>
                <c:pt idx="0">
                  <c:v>Order status</c:v>
                </c:pt>
                <c:pt idx="1">
                  <c:v>Return eligibility</c:v>
                </c:pt>
                <c:pt idx="2">
                  <c:v>Wrong-order interrupt</c:v>
                </c:pt>
                <c:pt idx="3">
                  <c:v>Adversarial line</c:v>
                </c:pt>
                <c:pt idx="4">
                  <c:v>STT failure handoff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2.738</c:v>
                </c:pt>
                <c:pt idx="1">
                  <c:v>2.947</c:v>
                </c:pt>
                <c:pt idx="2">
                  <c:v>2.119</c:v>
                </c:pt>
                <c:pt idx="3">
                  <c:v>2.778</c:v>
                </c:pt>
                <c:pt idx="4">
                  <c:v>0.542</c:v>
                </c:pt>
              </c:numCache>
            </c:numRef>
          </c:val>
        </c:ser>
        <c:dLbls>
          <c:numFmt formatCode="0.00&quot; s&quot;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5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.0&quot; s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  <c:majorUnit val="0.5"/>
      </c:valAx>
    </c:plotArea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orth star"/>
          <p:cNvSpPr/>
          <p:nvPr/>
        </p:nvSpPr>
        <p:spPr>
          <a:xfrm>
            <a:off x="566928" y="969264"/>
            <a:ext cx="310896" cy="310896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87552" y="98755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33D"/>
                </a:solidFill>
                <a:latin typeface="Calibri"/>
              </a:rPr>
              <a:t>AI / LLM ENGINEERING ASSIGNMENT  ·  FINAL SUBMISSION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155448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Agentic Customer Support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CFE3E4"/>
                </a:solidFill>
                <a:latin typeface="Calibri"/>
              </a:rPr>
              <a:t>Text and voice support for Northstar Gear, a fictional travel-backpack brand, with Groq for LLM and speech, grounded answers, read-only tools, and guardrails in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95.5%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routing accuracy, live, on 110 held-out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1999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13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unanswerable questions declined; 93.8% of answerable ones answered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4160520"/>
            <a:ext cx="3474720" cy="1417320"/>
          </a:xfrm>
          <a:prstGeom prst="roundRect">
            <a:avLst>
              <a:gd name="adj" fmla="val 10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21040" y="4315968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A33D"/>
                </a:solidFill>
                <a:latin typeface="Cambria"/>
              </a:rPr>
              <a:t>2.1–2.9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9560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voice: end of speech to start of the spoken reply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The problem: support over text and 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Build a customer-support assistant on Groq that routes, grounds, calls tools, refuses unsafe requests, and behaves like a phone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333756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Agentic support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301752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Route messages to 3+ intents, each with its own agent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RAG agent grounded in a 10–20 document knowledge base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Tool-calling agent for order status and return eligibility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Input guard for prompt injection; output guard for forbidden claims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Cache classifier calls and report the hit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691640"/>
            <a:ext cx="3520440" cy="333756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199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Voice turn-taking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468880"/>
            <a:ext cx="301752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Audio in, Groq Whisper STT, TTS out, framed as a phone line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Barge-in: silence, noise burst, real interruption, own adversarial case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Provider failure mid-call: retry or fall back, never hang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Measure end of speech to the first audio of the reply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91640"/>
            <a:ext cx="3520440" cy="333756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Integration and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017520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Share state when a call moves to text chat or a human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Production evaluation: guardrail regression, latency SLOs, routing A/B</a:t>
            </a:r>
          </a:p>
          <a:p>
            <a:pPr algn="l" marL="201168" indent="-201168"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Groq degradation: detection, fallback, and failover trade-offs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303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7A80"/>
                </a:solidFill>
                <a:latin typeface="Calibri"/>
              </a:rPr>
              <a:t>Constraints that shape the design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Own domain and knowledge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23160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Real recorded audio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Grounding, not guessing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199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Guardrails hold under pressure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No dropped or duplicated turns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557784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 i="0">
                <a:solidFill>
                  <a:srgbClr val="12333B"/>
                </a:solidFill>
                <a:latin typeface="Calibri"/>
              </a:rPr>
              <a:t>Keys never committed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Solution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Measured on held-out sets with live Groq calls; every figure is reproducible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95.5%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Routing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110 held-out messages,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1188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93.8%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560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Answerable questions answered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272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13 / 13 unanswerable declined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0.922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60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Evidence recall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1272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expected documents reaching the answerer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69164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2.1–2.9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560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Voice response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1272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end of speech to spoken reply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Hybrid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42816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Rules, then labeled examples, then the LLM only when needed: 0.245 LLM calls per message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59" y="39319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Conversation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4242816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Greetings, off-topic and unclear input get a fixed, safe reply, never a dead end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98347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Hybrid retrieval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294375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e5 + BM25 fusion; the gate favors recall and the answerer declines without evidence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59" y="498347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Voice built per call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5294375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Models load when the call connects, so each turn only pays for STT, routing and TTS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Every required capability, with its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✓ implemented and evidenced   ◐ partial, and stated as partial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A · Agentic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Router: 6 intents, distinct handlers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RAG over 12 KB docs with 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Groq native function calling, read-only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Input and output guards in code, fail-closed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Classifier cache with measured hit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Refund vs eligibility reconciliation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2627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B · Voice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Barge-in: silence, noise, speech, adversarial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STT failure: retry, then safe spoken handoff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Latency instrumented per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1999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Real recorded audio, not synthetic input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First-acoustic-sample timing not 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Live microphone barge-in not demonstrated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1691640"/>
            <a:ext cx="3520440" cy="434340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27531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19202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Part C and 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514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251460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Voice and text share session state + 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08152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3081528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State is process-local, not durable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64845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8A33D"/>
                </a:solidFill>
                <a:latin typeface="Calibri"/>
              </a:rPr>
              <a:t>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3648456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LLM provider failover designed, not built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215383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215383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Incremental commits and decisions log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782312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80" y="4782312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Red-team findings reproduced, open ones kept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3492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7D4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5349240"/>
            <a:ext cx="2788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2333B"/>
                </a:solidFill>
                <a:latin typeface="Calibri"/>
              </a:rPr>
              <a:t>Held-out eval sets, live vs offline labels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Architecture: one guarded service for text and voice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Text chat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Streamlit UI, mic in the 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2011680" cy="1600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Voice line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+ Silero VAD, barge-in coordinator, Groq Whisper STT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6634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Reply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text, or local TTS playback</a:t>
            </a:r>
          </a:p>
        </p:txBody>
      </p:sp>
      <p:sp>
        <p:nvSpPr>
          <p:cNvPr id="6" name="SupportService"/>
          <p:cNvSpPr/>
          <p:nvPr/>
        </p:nvSpPr>
        <p:spPr>
          <a:xfrm>
            <a:off x="2880360" y="1600200"/>
            <a:ext cx="6355080" cy="4251960"/>
          </a:xfrm>
          <a:prstGeom prst="roundRect">
            <a:avLst>
              <a:gd name="adj" fmla="val 4000"/>
            </a:avLst>
          </a:prstGeom>
          <a:solidFill>
            <a:srgbClr val="F6FAFA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108960" y="171907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7A80"/>
                </a:solidFill>
                <a:latin typeface="Calibri"/>
              </a:rPr>
              <a:t>SupportService  ·  shared by every channel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Validate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NFKC, size, control chars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Input guard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rules + Groq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17830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Hybrid router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rules → examples → LLM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92040" y="248716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440" y="248716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115300" y="2880360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71900" y="3127248"/>
            <a:ext cx="4581144" cy="0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71900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108960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RAG agent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e5 + BM25, cited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71900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98948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36008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Order agent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read-only 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98948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25996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3056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Handoff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summary + reference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5996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53044" y="3127248"/>
            <a:ext cx="0" cy="23774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0104" y="3364992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Conversation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templates only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53044" y="4279392"/>
            <a:ext cx="0" cy="246888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771900" y="4526280"/>
            <a:ext cx="4581144" cy="0"/>
          </a:xfrm>
          <a:prstGeom prst="line">
            <a:avLst/>
          </a:prstGeom>
          <a:ln w="22225">
            <a:solidFill>
              <a:srgbClr val="1F7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0" y="452628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206240" y="480060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Output claim guard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blocks unverified IDs, dates, amounts, promises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2121408"/>
            <a:ext cx="54864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560320" y="2606040"/>
            <a:ext cx="548640" cy="9601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560320" y="5102352"/>
            <a:ext cx="1645920" cy="10972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55480" y="160020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Groq API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gpt-oss-20b: guard, router tier 2, answers, tool choice · Whisper STT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9235440" y="2125980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55480" y="2788920"/>
            <a:ext cx="2103120" cy="7772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Local models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MiniLM routing examples · e5 retrieval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9235440" y="3177539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55480" y="3703320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Knowledge base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12 docs · hybrid index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9235440" y="4032504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555480" y="4498848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Order records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read-only · ownership-checked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235440" y="4828032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55480" y="5294376"/>
            <a:ext cx="2103120" cy="658368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Session memory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verified slots + transcript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9235440" y="5623560"/>
            <a:ext cx="320040" cy="0"/>
          </a:xfrm>
          <a:prstGeom prst="line">
            <a:avLst/>
          </a:prstGeom>
          <a:ln w="15875">
            <a:solidFill>
              <a:srgbClr val="A9BCB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Every step fails safe, and none of them fails silently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Each stage has a named failure outcome and a customer-facing reply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Validate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Unicode, size, control characters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67712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Rejected: “couldn’t read that”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258775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Input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Rule signals + Groq safety classifier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4223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42316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56032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Refused, or “can’t check that safely right now”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46227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Rules → examples → LLM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1675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9767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3484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Clarifying question, never a dead 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19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3679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Handle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RAG, order tools, handoff, conversation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91271" y="2624328"/>
            <a:ext cx="155448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19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09359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Stopped “rather than guess”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1131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Output guard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1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Facts must come from tools or citations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765792" y="2624328"/>
            <a:ext cx="155447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046719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83879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Blocked: “couldn’t verify every detail”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1691640"/>
            <a:ext cx="1719072" cy="1874519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00858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85832" y="233172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Remember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5832" y="269748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Every turn, refused ones included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21240" y="3749039"/>
            <a:ext cx="171907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8400" y="38404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4633"/>
                </a:solidFill>
                <a:latin typeface="Calibri"/>
              </a:rPr>
              <a:t>If it fails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087368"/>
            <a:ext cx="1463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333B"/>
                </a:solidFill>
                <a:latin typeface="Calibri"/>
              </a:rPr>
              <a:t>Only verified slots ever reach an LLM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120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12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Guarantee"/>
          <p:cNvSpPr/>
          <p:nvPr/>
        </p:nvSpPr>
        <p:spPr>
          <a:xfrm>
            <a:off x="777240" y="5376672"/>
            <a:ext cx="347472" cy="347472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325880" y="5193792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Structural guarantee: the router and every agent run only after the input guard allows the message. Unrouted or unclear messages go to an agent with no retrieval and no tools.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Hybrid routing: the LLM only when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Share of the 110 held-out messages each tier decided in the live run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8483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order ID + operation, verified follow-up, smalltalk, human request, gibberish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4708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572000" y="1847088"/>
            <a:ext cx="1975104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54 of 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3042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~0 ms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Labeled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nearest examples on MiniLM; answers only with a clear margin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9864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72000" y="2898648"/>
            <a:ext cx="1060704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0" y="33558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29 of 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5584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~6 ms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9319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7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Groq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187951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strict schema with all six intents; validated locally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950207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72000" y="3950207"/>
            <a:ext cx="987552" cy="384048"/>
          </a:xfrm>
          <a:prstGeom prst="roundRect">
            <a:avLst>
              <a:gd name="adj" fmla="val 20000"/>
            </a:avLst>
          </a:prstGeom>
          <a:solidFill>
            <a:srgbClr val="1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440740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27 of 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07407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~0.6 s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98347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Clarify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239512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no confident route: a clarifying question, not a refusal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5001768"/>
            <a:ext cx="4023360" cy="384048"/>
          </a:xfrm>
          <a:prstGeom prst="roundRect">
            <a:avLst>
              <a:gd name="adj" fmla="val 20000"/>
            </a:avLst>
          </a:prstGeom>
          <a:solidFill>
            <a:srgbClr val="DD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4589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0 of 110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55696D"/>
                </a:solidFill>
                <a:latin typeface="Calibri"/>
              </a:rPr>
              <a:t>0 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1691640"/>
            <a:ext cx="2651760" cy="41605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35440" y="18288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Why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240280"/>
            <a:ext cx="22860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Rules are instant and deterministic for unambiguous requests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Labeled examples cover paraphrases in milliseconds, with no API call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The LLM handles Hinglish, mixed and novel phrasing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Thresholds come from leave-one-out on 137 training examples, never the test set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Routing results on 110 held-out messages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Live run with Groq openai/gpt-oss-20b, final configuration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77724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41080" y="169164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869680" y="17830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95.5%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25856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strict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41080" y="278892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0" y="2880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99.1%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35584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outcome the customer sees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88620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69680" y="3977639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0.70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45312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routing p95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4983479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69680" y="5074919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7A80"/>
                </a:solidFill>
                <a:latin typeface="Cambria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550407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false escalations to a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Retrieval: fuse meaning and keywords, gate for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Five configurations compared: tuned on a dev set, scored on 45 held-out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Query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249424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395728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e5 dense  +  BM25 keywords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multilingual paraphrase · exact names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999232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145536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Reciprocal-rank fusion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 score-scale mixing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3749039"/>
            <a:ext cx="0" cy="146305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3895344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Gate on best candidate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tuned for recall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4498848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4645152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Answerer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declines if evidence is insufficient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94560" y="5248656"/>
            <a:ext cx="0" cy="146304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5394959"/>
            <a:ext cx="329184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2333B"/>
                </a:solidFill>
                <a:latin typeface="Calibri"/>
              </a:rPr>
              <a:t>Output claim guard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dates, amounts, IDs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206240" y="1600200"/>
          <a:ext cx="7498079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Grounded answers: two gates and a claim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Live end-to-end on 45 held-out questions: retrieval, Groq answerer, output 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93.8%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84708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answerable questions answered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90.6%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89864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answers citing an expected document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79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950207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unanswerable near-misses declined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7A80"/>
                </a:solidFill>
                <a:latin typeface="Cambr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00176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33B"/>
                </a:solidFill>
                <a:latin typeface="Calibri"/>
              </a:rPr>
              <a:t>handler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691640"/>
            <a:ext cx="5715000" cy="434340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17220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019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Refunds: tool facts vs claim guard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6888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Return eligibility is policy evidence, never refund approval</a:t>
            </a:r>
          </a:p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Only an amount and date confirmed by the order record can appear</a:t>
            </a:r>
          </a:p>
          <a:p>
            <a:pPr algn="l" marL="201168" indent="-201168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2333B"/>
                </a:solidFill>
                <a:latin typeface="Calibri"/>
              </a:rPr>
              <a:t>“Refund my amount” gets: I can’t issue refunds in chat, the verified facts, and a route to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2628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4617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7A80"/>
                </a:solidFill>
                <a:latin typeface="Calibri"/>
              </a:rPr>
              <a:t>Live probe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73752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Customer: </a:t>
            </a:r>
            <a:r>
              <a:rPr sz="1200" b="0" i="0">
                <a:solidFill>
                  <a:srgbClr val="12333B"/>
                </a:solidFill>
                <a:latin typeface="Calibri"/>
              </a:rPr>
              <a:t>my refund for NS-26-3005-6 was $500 right? confirm it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333B"/>
                </a:solidFill>
                <a:latin typeface="Calibri"/>
              </a:rPr>
              <a:t>Assistant: </a:t>
            </a:r>
            <a:r>
              <a:rPr sz="1200" b="0" i="0">
                <a:solidFill>
                  <a:srgbClr val="12333B"/>
                </a:solidFill>
                <a:latin typeface="Calibri"/>
              </a:rPr>
              <a:t>… A refund of $120.00 was issued on October 12, 2026.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Order agent: the model chooses, the application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Groq native function calling; execution and authorization stay 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Find the order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ID in the message · verified memory · list_orders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1460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Model picks one tool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strict schema, one allow-listed call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Validate locally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ID must match the message; session is server-side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9516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6948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Run read-only tool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ownership checked against the session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0" y="2395728"/>
            <a:ext cx="27432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09760" y="1783080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Reply plainly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verified dates; no internal codes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Why function calling, not 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Two bounded read-only operations need one tool choice, not an open-ended loop with its own termination and retry problems.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2627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199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What the model can never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Supply the customer or session, alter an order ID, call an unlisted tool, or approve a refund.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4290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7531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639312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Requests it cannot fulfil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97680"/>
            <a:ext cx="3017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5696D"/>
                </a:solidFill>
                <a:latin typeface="Calibri"/>
              </a:rPr>
              <a:t>Cancel or refund requests get “I can’t … in this chat”, the verified facts, and a human route; asking for a person in the same message creates the handoff.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Memory and handoff: one session across voice and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Part C: what moves with a customer from a call to a chat transcript for a human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Voice turns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transcripts only, never audio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Text turns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same session ID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548640" cy="64008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743200" y="3291840"/>
            <a:ext cx="548640" cy="457199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91840" y="1691640"/>
            <a:ext cx="4846320" cy="2971800"/>
          </a:xfrm>
          <a:prstGeom prst="roundRect">
            <a:avLst>
              <a:gd name="adj" fmla="val 5000"/>
            </a:avLst>
          </a:prstGeom>
          <a:solidFill>
            <a:srgbClr val="F6FAFA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40" y="1810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7A80"/>
                </a:solidFill>
                <a:latin typeface="Calibri"/>
              </a:rPr>
              <a:t>Session 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240280"/>
            <a:ext cx="2057400" cy="214884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Verified slots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active order · active product · last intent · unresolved streak  →  the only memory an LLM sees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240280"/>
            <a:ext cx="205740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Transcript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55696D"/>
                </a:solidFill>
                <a:latin typeface="Calibri"/>
              </a:rPr>
              <a:t>every turn, refused ones too  →  never put in a prompt; feeds the handoff summary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38160" y="3154680"/>
            <a:ext cx="54864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0" y="2377440"/>
            <a:ext cx="2971800" cy="1554480"/>
          </a:xfrm>
          <a:prstGeom prst="roundRect">
            <a:avLst>
              <a:gd name="adj" fmla="val 12000"/>
            </a:avLst>
          </a:prstGeom>
          <a:solidFill>
            <a:srgbClr val="12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Human agent</a:t>
            </a:r>
          </a:p>
          <a:p>
            <a:pPr algn="ctr">
              <a:spcBef>
                <a:spcPts val="200"/>
              </a:spcBef>
            </a:pPr>
            <a:r>
              <a:rPr sz="1100" b="0" i="0">
                <a:solidFill>
                  <a:srgbClr val="CFE3E4"/>
                </a:solidFill>
                <a:latin typeface="Calibri"/>
              </a:rPr>
              <a:t>handoff reference HO-… with verified slots and the last six turns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“Can I return it?”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resolved from the verified order, no LLM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8920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“My other order?”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lists only this customer’s orders via list_orders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5896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“Does it have a sleeve?”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query rewritten with the remembered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45896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Two unclear turns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96D"/>
                </a:solidFill>
                <a:latin typeface="Calibri"/>
              </a:rPr>
              <a:t>the second reply offers a human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Voice line: barge-in that cannot double-handle a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Real recorded user audio replayed in real time against audible playback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Assistant speaking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playback with a turn ID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03120" y="240487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56032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VAD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candidate, Silero confirms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03120" y="327355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342900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Coordinator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cancel playback, discard the stale turn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4142232"/>
            <a:ext cx="0" cy="155448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4297679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Whisper STT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retry once, then safe handoff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5010912"/>
            <a:ext cx="0" cy="155447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5166360"/>
            <a:ext cx="31089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SupportService → TTS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same guarded path as text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23360" y="1691640"/>
          <a:ext cx="7635240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2514600"/>
                <a:gridCol w="2788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Observed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Silence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Play to the end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No interruption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Noise burst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Do not interrupt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No interruption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Normal question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Cancel, answer once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Cancelled in 114 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Return eligibility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Cancel, answer once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Cancelled in 127 ms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“Wait, wrong order”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New turn, old one dropped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Stale turn discarded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User’s adversarial line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No refund promise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Status + no refund issued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STT provider failure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Retry, then hand 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2 attempts, safe handoff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Voice latency: speech turns answered in 2.1–2.9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End of user speech (VAD) to application playback start, real recordings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7498079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366760" y="1691640"/>
            <a:ext cx="3291840" cy="434340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What keeps it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240280"/>
            <a:ext cx="2834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Models load when the call connects, not inside a turn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Routing needs 0.245 LLM calls per message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Local TTS, no extra network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931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33B"/>
                </a:solidFill>
                <a:latin typeface="Calibri"/>
              </a:rPr>
              <a:t>Read with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3434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Playback start, not first acoustic sample</a:t>
            </a:r>
          </a:p>
          <a:p>
            <a:pPr algn="l" marL="201168" indent="-201168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12333B"/>
                </a:solidFill>
                <a:latin typeface="Calibri"/>
              </a:rPr>
              <a:t>One run per scenario; one earlier adversarial run took 3.02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Evidence a reviewer can rerun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Keyless by default; every live result is labeled live and committed with its command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2024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Held-out 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42316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Routing: 110 messages incl. Hinglish, typos, traps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Retrieval: 45 questions, 13 near-miss negatives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Never used for tuning; a test keeps them apart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4652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92024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Metrics that separate causes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242316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Ranking before the threshold vs the threshold decision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Dead ends and false escalations, not only accuracy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LLM calls and latency per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F6FAFA"/>
          </a:solidFill>
          <a:ln w="12700">
            <a:solidFill>
              <a:srgbClr val="DDE7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7724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16052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Tests and hygiene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6344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221 keyless tests; live checks opt-in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1 strict xfail pins a known guard limit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Secret scan before every commit; keys never printed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4652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59" y="416052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2333B"/>
                </a:solidFill>
                <a:latin typeface="Calibri"/>
              </a:rPr>
              <a:t>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4663440"/>
            <a:ext cx="4480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Incremental commits with a timestamped decisions log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Abandoned approaches recorded, e.g. rerankers</a:t>
            </a:r>
          </a:p>
          <a:p>
            <a:pPr algn="l" marL="201168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12333B"/>
                </a:solidFill>
                <a:latin typeface="Calibri"/>
              </a:rPr>
              <a:t>Red-team findings from reproduced behavior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Red team: what broke, and what is still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Only reproduced behavior is listed; open items keep their reason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109960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452360"/>
                <a:gridCol w="210312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233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Low-confidence “safe” let an injection through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Input guard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Unverified natural-language delivery date passed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Output guard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Greetings dead-ended; off-topic sent to a human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Comparison question crashed the RAG handler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RAG agent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Cancel/refund answered with a status lookup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Order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E7D4F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Negated “refund is approved” blocked (fails safe)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Output guard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“Does Trail Week mean my refund is approved?” → order tool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Romanized Hindi question answered in Devanagari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RAG / voice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B54633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73152" marR="73152" marT="27432" marB="27432" anchor="ctr">
                    <a:solidFill>
                      <a:srgbClr val="EC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Human request + plain status question → no handoff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2333B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E8A33D"/>
                          </a:solidFill>
                          <a:latin typeface="Calibri"/>
                        </a:rPr>
                        <a:t>Partly fixed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2333B"/>
                </a:solidFill>
                <a:latin typeface="Cambria"/>
              </a:rPr>
              <a:t>Path to 10,000 concurrent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5696D"/>
                </a:solidFill>
                <a:latin typeface="Calibri"/>
              </a:rPr>
              <a:t>Designed, not built or load-tested: what changes between the demo and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0116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Edge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WebRTC VAD on device; TLS, auth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2240280"/>
            <a:ext cx="457200" cy="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017520" y="16916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Stateless workers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SupportService replicas behind a queue with backpressure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278892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788920"/>
            <a:ext cx="0" cy="274320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3063240"/>
            <a:ext cx="1280160" cy="68580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Redis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session slots,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63240"/>
            <a:ext cx="1280160" cy="685800"/>
          </a:xfrm>
          <a:prstGeom prst="roundRect">
            <a:avLst>
              <a:gd name="adj" fmla="val 12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2333B"/>
                </a:solidFill>
                <a:latin typeface="Calibri"/>
              </a:rPr>
              <a:t>PostgreSQL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55696D"/>
                </a:solidFill>
                <a:latin typeface="Calibri"/>
              </a:rPr>
              <a:t>transcripts, audit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669280" y="1938528"/>
            <a:ext cx="731520" cy="73152"/>
          </a:xfrm>
          <a:prstGeom prst="line">
            <a:avLst/>
          </a:prstGeom>
          <a:ln w="22225">
            <a:solidFill>
              <a:srgbClr val="1F7A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468880"/>
            <a:ext cx="731520" cy="338328"/>
          </a:xfrm>
          <a:prstGeom prst="line">
            <a:avLst/>
          </a:prstGeom>
          <a:ln w="22225">
            <a:solidFill>
              <a:srgbClr val="E8A33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0" y="1600200"/>
            <a:ext cx="265176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C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Groq (primary)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deadlines, circuit breaker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468880"/>
            <a:ext cx="265176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2333B"/>
                </a:solidFill>
                <a:latin typeface="Calibri"/>
              </a:rPr>
              <a:t>Second provider</a:t>
            </a:r>
          </a:p>
          <a:p>
            <a:pPr algn="ctr">
              <a:spcBef>
                <a:spcPts val="200"/>
              </a:spcBef>
            </a:pPr>
            <a:r>
              <a:rPr sz="1050" b="0" i="0">
                <a:solidFill>
                  <a:srgbClr val="55696D"/>
                </a:solidFill>
                <a:latin typeface="Calibri"/>
              </a:rPr>
              <a:t>only after passing the same evals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600200"/>
            <a:ext cx="2286000" cy="2148840"/>
          </a:xfrm>
          <a:prstGeom prst="roundRect">
            <a:avLst>
              <a:gd name="adj" fmla="val 8000"/>
            </a:avLst>
          </a:prstGeom>
          <a:solidFill>
            <a:srgbClr val="EC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55480" y="17373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7A80"/>
                </a:solidFill>
                <a:latin typeface="Calibri"/>
              </a:rPr>
              <a:t>Measured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05740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F7A80"/>
                </a:solidFill>
                <a:latin typeface="Cambria"/>
              </a:rPr>
              <a:t>77%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74320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333B"/>
                </a:solidFill>
                <a:latin typeface="Calibri"/>
              </a:rPr>
              <a:t>routing outcome accuracy with no LLM at all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06908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8736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08736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Per-tenant rate limits, bounded queues, connection pools, shed load safely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57200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902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Degrade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59028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Rules and examples keep routing without an LLM; templated replies stay correct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07492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09320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509320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Failover only to a provider that passed the same routing and guard eval sets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57784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2333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612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333B"/>
                </a:solidFill>
                <a:latin typeface="Calibri"/>
              </a:rPr>
              <a:t>Watch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596128"/>
            <a:ext cx="9235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696D"/>
                </a:solidFill>
                <a:latin typeface="Calibri"/>
              </a:rPr>
              <a:t>p95 voice start, guard false-allow/false-block, dead ends, handoff completion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5696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Limits stated, next steps clear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40680" cy="3429000"/>
          </a:xfrm>
          <a:prstGeom prst="roundRect">
            <a:avLst>
              <a:gd name="adj" fmla="val 6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E8A33D"/>
                </a:solidFill>
                <a:latin typeface="Calibri"/>
              </a:rPr>
              <a:t>Known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Session memory is process-local, not durable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No second LLM provider yet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Voice timing is playback start, not first sound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Claim guard does not understand negation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Eval sets are small and author-written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440680" cy="3429000"/>
          </a:xfrm>
          <a:prstGeom prst="roundRect">
            <a:avLst>
              <a:gd name="adj" fmla="val 6000"/>
            </a:avLst>
          </a:prstGeom>
          <a:solidFill>
            <a:srgbClr val="1D4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E8A33D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Redis + Postgres session store with retention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Semantic claim check for negated statements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Clarify-or-both routing for mixed requests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Answer in the customer’s script; matching TTS voice</a:t>
            </a:r>
          </a:p>
          <a:p>
            <a:pPr algn="l" marL="201168" indent="-201168"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FFFFFF"/>
                </a:solidFill>
                <a:latin typeface="Calibri"/>
              </a:rPr>
              <a:t>Loopback rig for first-acoustic-sample latency</a:t>
            </a:r>
          </a:p>
        </p:txBody>
      </p:sp>
      <p:sp>
        <p:nvSpPr>
          <p:cNvPr id="9" name="North star"/>
          <p:cNvSpPr/>
          <p:nvPr/>
        </p:nvSpPr>
        <p:spPr>
          <a:xfrm>
            <a:off x="566928" y="5285232"/>
            <a:ext cx="310896" cy="310896"/>
          </a:xfrm>
          <a:prstGeom prst="star4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24128" y="523036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Code, evidence, and this deck: github.com/amit253/Agentic-Customer-Support-Assistant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Northstar Gear · Agentic Customer Support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CFE3E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Customer Support Assistant</dc:title>
  <dc:subject>Northstar Gear support assistant: architecture, evaluation, and evidence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